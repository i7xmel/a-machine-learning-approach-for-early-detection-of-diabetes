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9"/>
  </p:notesMasterIdLst>
  <p:sldIdLst>
    <p:sldId id="333" r:id="rId2"/>
    <p:sldId id="260" r:id="rId3"/>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8" r:id="rId17"/>
    <p:sldId id="347" r:id="rId18"/>
  </p:sldIdLst>
  <p:sldSz cx="9144000" cy="6858000" type="screen4x3"/>
  <p:notesSz cx="6858000" cy="9144000"/>
  <p:embeddedFontLst>
    <p:embeddedFont>
      <p:font typeface="Archivo Narrow" panose="020B0604020202020204" charset="0"/>
      <p:regular r:id="rId20"/>
      <p:bold r:id="rId21"/>
      <p:italic r:id="rId22"/>
      <p:boldItalic r:id="rId23"/>
    </p:embeddedFont>
    <p:embeddedFont>
      <p:font typeface="Georgia" panose="02040502050405020303" pitchFamily="18" charset="0"/>
      <p:regular r:id="rId24"/>
      <p:bold r:id="rId25"/>
      <p:italic r:id="rId26"/>
      <p:boldItalic r:id="rId27"/>
    </p:embeddedFont>
    <p:embeddedFont>
      <p:font typeface="Roboto" panose="02000000000000000000" pitchFamily="2" charset="0"/>
      <p:regular r:id="rId28"/>
      <p:bold r:id="rId29"/>
    </p:embeddedFont>
  </p:embeddedFontLst>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48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6502" autoAdjust="0"/>
  </p:normalViewPr>
  <p:slideViewPr>
    <p:cSldViewPr>
      <p:cViewPr varScale="1">
        <p:scale>
          <a:sx n="89" d="100"/>
          <a:sy n="89" d="100"/>
        </p:scale>
        <p:origin x="1310" y="72"/>
      </p:cViewPr>
      <p:guideLst>
        <p:guide orient="horz" pos="2160"/>
        <p:guide pos="2880"/>
      </p:guideLst>
    </p:cSldViewPr>
  </p:slideViewPr>
  <p:notesTextViewPr>
    <p:cViewPr>
      <p:scale>
        <a:sx n="1" d="1"/>
        <a:sy n="1" d="1"/>
      </p:scale>
      <p:origin x="0" y="0"/>
    </p:cViewPr>
  </p:notesTextViewPr>
  <p:sorterViewPr>
    <p:cViewPr>
      <p:scale>
        <a:sx n="100" d="100"/>
        <a:sy n="100" d="100"/>
      </p:scale>
      <p:origin x="0" y="-32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Shape 3">
            <a:extLst>
              <a:ext uri="{FF2B5EF4-FFF2-40B4-BE49-F238E27FC236}">
                <a16:creationId xmlns:a16="http://schemas.microsoft.com/office/drawing/2014/main" id="{A25BBE92-22B4-4E62-83B8-E6183AA80474}"/>
              </a:ext>
            </a:extLst>
          </p:cNvPr>
          <p:cNvSpPr>
            <a:spLocks noGrp="1" noRot="1" noChangeAspect="1"/>
          </p:cNvSpPr>
          <p:nvPr>
            <p:ph type="sldImg" idx="2"/>
          </p:nvPr>
        </p:nvSpPr>
        <p:spPr bwMode="auto">
          <a:xfrm>
            <a:off x="1143000" y="685800"/>
            <a:ext cx="4572000" cy="3429000"/>
          </a:xfrm>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w="9525">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25603" name="Shape 4">
            <a:extLst>
              <a:ext uri="{FF2B5EF4-FFF2-40B4-BE49-F238E27FC236}">
                <a16:creationId xmlns:a16="http://schemas.microsoft.com/office/drawing/2014/main" id="{3F230BAC-0281-46D8-98C3-4373B5394375}"/>
              </a:ext>
            </a:extLst>
          </p:cNvPr>
          <p:cNvSpPr txBox="1">
            <a:spLocks noGrp="1"/>
          </p:cNvSpPr>
          <p:nvPr>
            <p:ph type="body" idx="1"/>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Tree>
    <p:extLst>
      <p:ext uri="{BB962C8B-B14F-4D97-AF65-F5344CB8AC3E}">
        <p14:creationId xmlns:p14="http://schemas.microsoft.com/office/powerpoint/2010/main" val="19681935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3175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Shape 108">
            <a:extLst>
              <a:ext uri="{FF2B5EF4-FFF2-40B4-BE49-F238E27FC236}">
                <a16:creationId xmlns:a16="http://schemas.microsoft.com/office/drawing/2014/main" id="{1855C86C-825E-4AB5-864B-29B80623F67A}"/>
              </a:ext>
            </a:extLst>
          </p:cNvPr>
          <p:cNvSpPr>
            <a:spLocks noGrp="1" noRot="1" noChangeAspect="1" noTextEdit="1"/>
          </p:cNvSpPr>
          <p:nvPr>
            <p:ph type="sldImg" idx="2"/>
          </p:nvPr>
        </p:nvSpPr>
        <p:spPr>
          <a:ln>
            <a:miter lim="800000"/>
            <a:headEnd/>
            <a:tailEnd/>
          </a:ln>
        </p:spPr>
      </p:sp>
      <p:sp>
        <p:nvSpPr>
          <p:cNvPr id="27651" name="Shape 109">
            <a:extLst>
              <a:ext uri="{FF2B5EF4-FFF2-40B4-BE49-F238E27FC236}">
                <a16:creationId xmlns:a16="http://schemas.microsoft.com/office/drawing/2014/main" id="{EA86520B-CFF7-4E95-8FFF-8404FC4D076F}"/>
              </a:ext>
            </a:extLst>
          </p:cNvPr>
          <p:cNvSpPr txBox="1">
            <a:spLocks noGrp="1"/>
          </p:cNvSpPr>
          <p:nvPr>
            <p:ph type="body" idx="1"/>
          </p:nvPr>
        </p:nvSpPr>
        <p:spPr/>
        <p:txBody>
          <a:bodyPr/>
          <a:lstStyle/>
          <a:p>
            <a:pPr marL="0" indent="0" eaLnBrk="1" hangingPunct="1">
              <a:buSzPts val="14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683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4" name="Shape 13">
            <a:extLst>
              <a:ext uri="{FF2B5EF4-FFF2-40B4-BE49-F238E27FC236}">
                <a16:creationId xmlns:a16="http://schemas.microsoft.com/office/drawing/2014/main" id="{D99E2E5D-A2D6-4ACA-9D2A-D6D65FFCE312}"/>
              </a:ext>
            </a:extLst>
          </p:cNvPr>
          <p:cNvSpPr>
            <a:spLocks noChangeArrowheads="1"/>
          </p:cNvSpPr>
          <p:nvPr/>
        </p:nvSpPr>
        <p:spPr bwMode="auto">
          <a:xfrm flipH="1">
            <a:off x="0" y="66675"/>
            <a:ext cx="9144000" cy="1420813"/>
          </a:xfrm>
          <a:prstGeom prst="flowChartDocument">
            <a:avLst/>
          </a:prstGeom>
          <a:noFill/>
          <a:ln w="19050">
            <a:solidFill>
              <a:srgbClr val="0B5394"/>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a:p>
        </p:txBody>
      </p:sp>
      <p:sp>
        <p:nvSpPr>
          <p:cNvPr id="5" name="Shape 14">
            <a:extLst>
              <a:ext uri="{FF2B5EF4-FFF2-40B4-BE49-F238E27FC236}">
                <a16:creationId xmlns:a16="http://schemas.microsoft.com/office/drawing/2014/main" id="{54DE70E0-5320-4D38-AF42-C7A993099EE8}"/>
              </a:ext>
            </a:extLst>
          </p:cNvPr>
          <p:cNvSpPr>
            <a:spLocks noChangeArrowheads="1"/>
          </p:cNvSpPr>
          <p:nvPr/>
        </p:nvSpPr>
        <p:spPr bwMode="auto">
          <a:xfrm flipH="1">
            <a:off x="0" y="0"/>
            <a:ext cx="9144000" cy="1420813"/>
          </a:xfrm>
          <a:prstGeom prst="flowChartDocument">
            <a:avLst/>
          </a:prstGeom>
          <a:solidFill>
            <a:srgbClr val="0B539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a:p>
        </p:txBody>
      </p:sp>
      <p:pic>
        <p:nvPicPr>
          <p:cNvPr id="6" name="Shape 15">
            <a:extLst>
              <a:ext uri="{FF2B5EF4-FFF2-40B4-BE49-F238E27FC236}">
                <a16:creationId xmlns:a16="http://schemas.microsoft.com/office/drawing/2014/main" id="{8D4DD754-6188-45BD-B1B8-AD1C5E409792}"/>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1238" y="342900"/>
            <a:ext cx="2463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hape 16">
            <a:extLst>
              <a:ext uri="{FF2B5EF4-FFF2-40B4-BE49-F238E27FC236}">
                <a16:creationId xmlns:a16="http://schemas.microsoft.com/office/drawing/2014/main" id="{48CA362B-5C37-42A7-B8F7-E968EA1470EE}"/>
              </a:ext>
            </a:extLst>
          </p:cNvPr>
          <p:cNvSpPr/>
          <p:nvPr/>
        </p:nvSpPr>
        <p:spPr>
          <a:xfrm>
            <a:off x="-11113" y="5919788"/>
            <a:ext cx="9155113" cy="938212"/>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8" name="Shape 17">
            <a:extLst>
              <a:ext uri="{FF2B5EF4-FFF2-40B4-BE49-F238E27FC236}">
                <a16:creationId xmlns:a16="http://schemas.microsoft.com/office/drawing/2014/main" id="{8493633D-A166-46D0-B6BE-DC9AA8D2D0D0}"/>
              </a:ext>
            </a:extLst>
          </p:cNvPr>
          <p:cNvSpPr txBox="1">
            <a:spLocks noChangeArrowheads="1"/>
          </p:cNvSpPr>
          <p:nvPr/>
        </p:nvSpPr>
        <p:spPr bwMode="auto">
          <a:xfrm>
            <a:off x="0" y="5919788"/>
            <a:ext cx="3571875"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b="1">
                <a:solidFill>
                  <a:srgbClr val="FFFFFF"/>
                </a:solidFill>
                <a:latin typeface="Georgia" panose="02040502050405020303" pitchFamily="18" charset="0"/>
                <a:sym typeface="Georgia" panose="02040502050405020303" pitchFamily="18" charset="0"/>
              </a:rPr>
              <a:t>MISSION</a:t>
            </a:r>
            <a:endParaRPr lang="en-US" altLang="en-US" b="1">
              <a:solidFill>
                <a:srgbClr val="FFFFFF"/>
              </a:solidFill>
              <a:latin typeface="Georgia" panose="02040502050405020303" pitchFamily="18" charset="0"/>
              <a:sym typeface="Georgia" panose="02040502050405020303" pitchFamily="18" charset="0"/>
            </a:endParaRPr>
          </a:p>
          <a:p>
            <a:pPr algn="ctr" eaLnBrk="1" hangingPunct="1">
              <a:defRPr/>
            </a:pPr>
            <a:r>
              <a:rPr lang="en-GB" altLang="en-US" sz="1100">
                <a:solidFill>
                  <a:srgbClr val="FFFFFF"/>
                </a:solidFill>
                <a:latin typeface="Georgia" panose="02040502050405020303" pitchFamily="18" charset="0"/>
                <a:sym typeface="Georgia" panose="02040502050405020303" pitchFamily="18" charset="0"/>
              </a:rPr>
              <a:t>CHRIST is a nurturing ground for an individual’s holistic development to make effective contribution to the society in a dynamic environment</a:t>
            </a:r>
            <a:endParaRPr lang="en-US" altLang="en-US" sz="1100">
              <a:solidFill>
                <a:srgbClr val="FFFFFF"/>
              </a:solidFill>
              <a:latin typeface="Georgia" panose="02040502050405020303" pitchFamily="18" charset="0"/>
              <a:sym typeface="Georgia" panose="02040502050405020303" pitchFamily="18" charset="0"/>
            </a:endParaRPr>
          </a:p>
        </p:txBody>
      </p:sp>
      <p:sp>
        <p:nvSpPr>
          <p:cNvPr id="9" name="Shape 18">
            <a:extLst>
              <a:ext uri="{FF2B5EF4-FFF2-40B4-BE49-F238E27FC236}">
                <a16:creationId xmlns:a16="http://schemas.microsoft.com/office/drawing/2014/main" id="{747D5DD2-6F3C-4058-8C60-B5C73E6FFB78}"/>
              </a:ext>
            </a:extLst>
          </p:cNvPr>
          <p:cNvSpPr txBox="1">
            <a:spLocks noChangeArrowheads="1"/>
          </p:cNvSpPr>
          <p:nvPr/>
        </p:nvSpPr>
        <p:spPr bwMode="auto">
          <a:xfrm>
            <a:off x="3708400" y="5919788"/>
            <a:ext cx="2032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b="1">
                <a:solidFill>
                  <a:srgbClr val="FFFFFF"/>
                </a:solidFill>
                <a:latin typeface="Georgia" panose="02040502050405020303" pitchFamily="18" charset="0"/>
                <a:sym typeface="Georgia" panose="02040502050405020303" pitchFamily="18" charset="0"/>
              </a:rPr>
              <a:t>VISION</a:t>
            </a:r>
            <a:endParaRPr lang="en-US" altLang="en-US" b="1">
              <a:solidFill>
                <a:srgbClr val="FFFFFF"/>
              </a:solidFill>
              <a:latin typeface="Georgia" panose="02040502050405020303" pitchFamily="18" charset="0"/>
              <a:sym typeface="Georgia" panose="02040502050405020303" pitchFamily="18" charset="0"/>
            </a:endParaRPr>
          </a:p>
          <a:p>
            <a:pPr algn="ctr" eaLnBrk="1" hangingPunct="1">
              <a:defRPr/>
            </a:pPr>
            <a:r>
              <a:rPr lang="en-GB" altLang="en-US" sz="1100">
                <a:solidFill>
                  <a:srgbClr val="FFFFFF"/>
                </a:solidFill>
                <a:latin typeface="Georgia" panose="02040502050405020303" pitchFamily="18" charset="0"/>
                <a:sym typeface="Georgia" panose="02040502050405020303" pitchFamily="18" charset="0"/>
              </a:rPr>
              <a:t>Excellence and Service</a:t>
            </a:r>
            <a:endParaRPr lang="en-US" altLang="en-US" sz="1100">
              <a:solidFill>
                <a:srgbClr val="FFFFFF"/>
              </a:solidFill>
              <a:latin typeface="Georgia" panose="02040502050405020303" pitchFamily="18" charset="0"/>
              <a:sym typeface="Georgia" panose="02040502050405020303" pitchFamily="18" charset="0"/>
            </a:endParaRPr>
          </a:p>
        </p:txBody>
      </p:sp>
      <p:sp>
        <p:nvSpPr>
          <p:cNvPr id="12" name="Shape 19">
            <a:extLst>
              <a:ext uri="{FF2B5EF4-FFF2-40B4-BE49-F238E27FC236}">
                <a16:creationId xmlns:a16="http://schemas.microsoft.com/office/drawing/2014/main" id="{209838F3-C2B8-468B-A97B-C42D5AECB38A}"/>
              </a:ext>
            </a:extLst>
          </p:cNvPr>
          <p:cNvSpPr txBox="1">
            <a:spLocks noChangeArrowheads="1"/>
          </p:cNvSpPr>
          <p:nvPr/>
        </p:nvSpPr>
        <p:spPr bwMode="auto">
          <a:xfrm>
            <a:off x="6067425" y="5919788"/>
            <a:ext cx="2984500"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b="1">
                <a:solidFill>
                  <a:srgbClr val="FFFFFF"/>
                </a:solidFill>
                <a:latin typeface="Georgia" panose="02040502050405020303" pitchFamily="18" charset="0"/>
                <a:sym typeface="Georgia" panose="02040502050405020303" pitchFamily="18" charset="0"/>
              </a:rPr>
              <a:t>CORE  VALUES</a:t>
            </a:r>
            <a:endParaRPr lang="en-US" altLang="en-US" b="1">
              <a:solidFill>
                <a:srgbClr val="FFFFFF"/>
              </a:solidFill>
              <a:latin typeface="Georgia" panose="02040502050405020303" pitchFamily="18" charset="0"/>
              <a:sym typeface="Georgia" panose="02040502050405020303" pitchFamily="18" charset="0"/>
            </a:endParaRPr>
          </a:p>
          <a:p>
            <a:pPr algn="ctr" eaLnBrk="1" hangingPunct="1">
              <a:defRPr/>
            </a:pPr>
            <a:r>
              <a:rPr lang="en-GB" altLang="en-US" sz="1100">
                <a:solidFill>
                  <a:srgbClr val="FFFFFF"/>
                </a:solidFill>
                <a:latin typeface="Georgia" panose="02040502050405020303" pitchFamily="18" charset="0"/>
                <a:sym typeface="Georgia" panose="02040502050405020303" pitchFamily="18" charset="0"/>
              </a:rPr>
              <a:t>Faith in God |  Moral Uprightness</a:t>
            </a:r>
            <a:br>
              <a:rPr lang="en-GB" altLang="en-US" sz="1100">
                <a:solidFill>
                  <a:srgbClr val="FFFFFF"/>
                </a:solidFill>
                <a:latin typeface="Georgia" panose="02040502050405020303" pitchFamily="18" charset="0"/>
                <a:sym typeface="Georgia" panose="02040502050405020303" pitchFamily="18" charset="0"/>
              </a:rPr>
            </a:br>
            <a:r>
              <a:rPr lang="en-GB" altLang="en-US" sz="1100">
                <a:solidFill>
                  <a:srgbClr val="FFFFFF"/>
                </a:solidFill>
                <a:latin typeface="Georgia" panose="02040502050405020303" pitchFamily="18" charset="0"/>
                <a:sym typeface="Georgia" panose="02040502050405020303" pitchFamily="18" charset="0"/>
              </a:rPr>
              <a:t> Love of Fellow Beings   </a:t>
            </a:r>
            <a:br>
              <a:rPr lang="en-GB" altLang="en-US" sz="1100">
                <a:solidFill>
                  <a:srgbClr val="FFFFFF"/>
                </a:solidFill>
                <a:latin typeface="Georgia" panose="02040502050405020303" pitchFamily="18" charset="0"/>
                <a:sym typeface="Georgia" panose="02040502050405020303" pitchFamily="18" charset="0"/>
              </a:rPr>
            </a:br>
            <a:r>
              <a:rPr lang="en-GB" altLang="en-US" sz="1100">
                <a:solidFill>
                  <a:srgbClr val="FFFFFF"/>
                </a:solidFill>
                <a:latin typeface="Georgia" panose="02040502050405020303" pitchFamily="18" charset="0"/>
                <a:sym typeface="Georgia" panose="02040502050405020303" pitchFamily="18" charset="0"/>
              </a:rPr>
              <a:t>Social Responsibility | Pursuit of Excellence</a:t>
            </a:r>
            <a:endParaRPr lang="en-US" altLang="en-US" sz="1100">
              <a:solidFill>
                <a:srgbClr val="FFFFFF"/>
              </a:solidFill>
              <a:latin typeface="Georgia" panose="02040502050405020303" pitchFamily="18" charset="0"/>
              <a:sym typeface="Georgia" panose="02040502050405020303" pitchFamily="18" charset="0"/>
            </a:endParaRPr>
          </a:p>
        </p:txBody>
      </p:sp>
      <p:sp>
        <p:nvSpPr>
          <p:cNvPr id="10" name="Shape 10"/>
          <p:cNvSpPr txBox="1">
            <a:spLocks noGrp="1"/>
          </p:cNvSpPr>
          <p:nvPr>
            <p:ph type="ctrTitle"/>
          </p:nvPr>
        </p:nvSpPr>
        <p:spPr>
          <a:xfrm>
            <a:off x="311700" y="1886797"/>
            <a:ext cx="8520600" cy="1842900"/>
          </a:xfrm>
          <a:prstGeom prst="rect">
            <a:avLst/>
          </a:prstGeom>
        </p:spPr>
        <p:txBody>
          <a:bodyPr spcFirstLastPara="1" anchor="b"/>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spcFirstLastPara="1"/>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Shape 12">
            <a:extLst>
              <a:ext uri="{FF2B5EF4-FFF2-40B4-BE49-F238E27FC236}">
                <a16:creationId xmlns:a16="http://schemas.microsoft.com/office/drawing/2014/main" id="{A8C96C79-32A0-4EC1-9BB1-0D788BAA1158}"/>
              </a:ext>
            </a:extLst>
          </p:cNvPr>
          <p:cNvSpPr txBox="1">
            <a:spLocks noGrp="1"/>
          </p:cNvSpPr>
          <p:nvPr>
            <p:ph type="sldNum" idx="10"/>
          </p:nvPr>
        </p:nvSpPr>
        <p:spPr/>
        <p:txBody>
          <a:bodyPr/>
          <a:lstStyle>
            <a:lvl1pPr>
              <a:defRPr/>
            </a:lvl1pPr>
          </a:lstStyle>
          <a:p>
            <a:pPr>
              <a:defRPr/>
            </a:pPr>
            <a:fld id="{BC1B7FA3-2362-4C5C-A460-544388A8E410}" type="slidenum">
              <a:rPr lang="en-GB" altLang="en-US"/>
              <a:pPr>
                <a:defRPr/>
              </a:pPr>
              <a:t>‹#›</a:t>
            </a:fld>
            <a:endParaRPr lang="en-US" altLang="en-US"/>
          </a:p>
        </p:txBody>
      </p:sp>
    </p:spTree>
    <p:extLst>
      <p:ext uri="{BB962C8B-B14F-4D97-AF65-F5344CB8AC3E}">
        <p14:creationId xmlns:p14="http://schemas.microsoft.com/office/powerpoint/2010/main" val="4034888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
        <p:cNvGrpSpPr/>
        <p:nvPr/>
      </p:nvGrpSpPr>
      <p:grpSpPr>
        <a:xfrm>
          <a:off x="0" y="0"/>
          <a:ext cx="0" cy="0"/>
          <a:chOff x="0" y="0"/>
          <a:chExt cx="0" cy="0"/>
        </a:xfrm>
      </p:grpSpPr>
      <p:sp>
        <p:nvSpPr>
          <p:cNvPr id="4" name="Shape 32">
            <a:extLst>
              <a:ext uri="{FF2B5EF4-FFF2-40B4-BE49-F238E27FC236}">
                <a16:creationId xmlns:a16="http://schemas.microsoft.com/office/drawing/2014/main" id="{118C4F0E-C567-469A-9CF9-BB4495D24EAE}"/>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5" name="Shape 33">
            <a:extLst>
              <a:ext uri="{FF2B5EF4-FFF2-40B4-BE49-F238E27FC236}">
                <a16:creationId xmlns:a16="http://schemas.microsoft.com/office/drawing/2014/main" id="{C8D620D3-8046-44C0-A4DB-7840EF40BB2B}"/>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6" name="Shape 34">
            <a:extLst>
              <a:ext uri="{FF2B5EF4-FFF2-40B4-BE49-F238E27FC236}">
                <a16:creationId xmlns:a16="http://schemas.microsoft.com/office/drawing/2014/main" id="{0D6C144B-1021-4B83-B174-1111BB45973F}"/>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7" name="Shape 35">
            <a:extLst>
              <a:ext uri="{FF2B5EF4-FFF2-40B4-BE49-F238E27FC236}">
                <a16:creationId xmlns:a16="http://schemas.microsoft.com/office/drawing/2014/main" id="{24E24ECC-675A-48AB-A197-D40287E84D14}"/>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8" name="Shape 36">
            <a:extLst>
              <a:ext uri="{FF2B5EF4-FFF2-40B4-BE49-F238E27FC236}">
                <a16:creationId xmlns:a16="http://schemas.microsoft.com/office/drawing/2014/main" id="{734000A1-8D50-47D1-86AF-C943C76FE13B}"/>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29" name="Shape 29"/>
          <p:cNvSpPr txBox="1">
            <a:spLocks noGrp="1"/>
          </p:cNvSpPr>
          <p:nvPr>
            <p:ph type="title"/>
          </p:nvPr>
        </p:nvSpPr>
        <p:spPr>
          <a:xfrm>
            <a:off x="311700" y="593367"/>
            <a:ext cx="8520600" cy="763500"/>
          </a:xfrm>
          <a:prstGeom prst="rect">
            <a:avLst/>
          </a:prstGeom>
        </p:spPr>
        <p:txBody>
          <a:bodyPr spcFirstLastPara="1"/>
          <a:lstStyle>
            <a:lvl1pPr lvl="0">
              <a:spcBef>
                <a:spcPts val="0"/>
              </a:spcBef>
              <a:spcAft>
                <a:spcPts val="0"/>
              </a:spcAft>
              <a:buSzPts val="2800"/>
              <a:buNone/>
              <a:defRPr>
                <a:latin typeface="Times New Roman" pitchFamily="18" charset="0"/>
                <a:cs typeface="Times New Roman"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30" name="Shape 30"/>
          <p:cNvSpPr txBox="1">
            <a:spLocks noGrp="1"/>
          </p:cNvSpPr>
          <p:nvPr>
            <p:ph type="body" idx="1"/>
          </p:nvPr>
        </p:nvSpPr>
        <p:spPr>
          <a:xfrm>
            <a:off x="311700" y="1536633"/>
            <a:ext cx="8520600" cy="4555200"/>
          </a:xfrm>
          <a:prstGeom prst="rect">
            <a:avLst/>
          </a:prstGeom>
        </p:spPr>
        <p:txBody>
          <a:bodyPr spcFirstLastPara="1"/>
          <a:lstStyle>
            <a:lvl1pPr marL="457200" lvl="0" indent="-368300">
              <a:spcBef>
                <a:spcPts val="0"/>
              </a:spcBef>
              <a:spcAft>
                <a:spcPts val="0"/>
              </a:spcAft>
              <a:buSzPts val="2200"/>
              <a:buChar char="●"/>
              <a:defRPr>
                <a:latin typeface="Times New Roman" pitchFamily="18" charset="0"/>
                <a:cs typeface="Times New Roman" pitchFamily="18" charset="0"/>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dirty="0"/>
          </a:p>
        </p:txBody>
      </p:sp>
      <p:sp>
        <p:nvSpPr>
          <p:cNvPr id="9" name="Shape 31">
            <a:extLst>
              <a:ext uri="{FF2B5EF4-FFF2-40B4-BE49-F238E27FC236}">
                <a16:creationId xmlns:a16="http://schemas.microsoft.com/office/drawing/2014/main" id="{69716E12-21F7-4A5F-92A8-131A8EE0ED36}"/>
              </a:ext>
            </a:extLst>
          </p:cNvPr>
          <p:cNvSpPr txBox="1">
            <a:spLocks noGrp="1"/>
          </p:cNvSpPr>
          <p:nvPr>
            <p:ph type="sldNum" idx="10"/>
          </p:nvPr>
        </p:nvSpPr>
        <p:spPr/>
        <p:txBody>
          <a:bodyPr/>
          <a:lstStyle>
            <a:lvl1pPr>
              <a:defRPr/>
            </a:lvl1pPr>
          </a:lstStyle>
          <a:p>
            <a:pPr>
              <a:defRPr/>
            </a:pPr>
            <a:fld id="{9D2B33C2-A734-4AB5-AC6D-A69A02FE3E9B}" type="slidenum">
              <a:rPr lang="en-GB" altLang="en-US"/>
              <a:pPr>
                <a:defRPr/>
              </a:pPr>
              <a:t>‹#›</a:t>
            </a:fld>
            <a:endParaRPr lang="en-US" altLang="en-US"/>
          </a:p>
        </p:txBody>
      </p:sp>
    </p:spTree>
    <p:extLst>
      <p:ext uri="{BB962C8B-B14F-4D97-AF65-F5344CB8AC3E}">
        <p14:creationId xmlns:p14="http://schemas.microsoft.com/office/powerpoint/2010/main" val="3188636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sp>
        <p:nvSpPr>
          <p:cNvPr id="5" name="Shape 42">
            <a:extLst>
              <a:ext uri="{FF2B5EF4-FFF2-40B4-BE49-F238E27FC236}">
                <a16:creationId xmlns:a16="http://schemas.microsoft.com/office/drawing/2014/main" id="{DDE2B421-73C0-4FB7-BDE1-3A6617169609}"/>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6" name="Shape 43">
            <a:extLst>
              <a:ext uri="{FF2B5EF4-FFF2-40B4-BE49-F238E27FC236}">
                <a16:creationId xmlns:a16="http://schemas.microsoft.com/office/drawing/2014/main" id="{C6102CAD-51EF-4749-A49A-E4B65EEE41B3}"/>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7" name="Shape 44">
            <a:extLst>
              <a:ext uri="{FF2B5EF4-FFF2-40B4-BE49-F238E27FC236}">
                <a16:creationId xmlns:a16="http://schemas.microsoft.com/office/drawing/2014/main" id="{F3A0CAD1-BCD2-4826-BC0D-46004E3B5671}"/>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8" name="Shape 45">
            <a:extLst>
              <a:ext uri="{FF2B5EF4-FFF2-40B4-BE49-F238E27FC236}">
                <a16:creationId xmlns:a16="http://schemas.microsoft.com/office/drawing/2014/main" id="{207CB9DD-A8A2-4BCF-ABB8-8FDC0A16D33D}"/>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9" name="Shape 46">
            <a:extLst>
              <a:ext uri="{FF2B5EF4-FFF2-40B4-BE49-F238E27FC236}">
                <a16:creationId xmlns:a16="http://schemas.microsoft.com/office/drawing/2014/main" id="{0718E919-8544-4840-B60F-842FCD798BE2}"/>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38" name="Shape 38"/>
          <p:cNvSpPr txBox="1">
            <a:spLocks noGrp="1"/>
          </p:cNvSpPr>
          <p:nvPr>
            <p:ph type="title"/>
          </p:nvPr>
        </p:nvSpPr>
        <p:spPr>
          <a:xfrm>
            <a:off x="311700" y="593367"/>
            <a:ext cx="8520600" cy="763500"/>
          </a:xfrm>
          <a:prstGeom prst="rect">
            <a:avLst/>
          </a:prstGeom>
        </p:spPr>
        <p:txBody>
          <a:bodyPr spcFirstLastPara="1"/>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Shape 39"/>
          <p:cNvSpPr txBox="1">
            <a:spLocks noGrp="1"/>
          </p:cNvSpPr>
          <p:nvPr>
            <p:ph type="body" idx="1"/>
          </p:nvPr>
        </p:nvSpPr>
        <p:spPr>
          <a:xfrm>
            <a:off x="311700" y="1536633"/>
            <a:ext cx="3999900" cy="4555200"/>
          </a:xfrm>
          <a:prstGeom prst="rect">
            <a:avLst/>
          </a:prstGeom>
        </p:spPr>
        <p:txBody>
          <a:bodyPr spcFirstLastPara="1"/>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40" name="Shape 40"/>
          <p:cNvSpPr txBox="1">
            <a:spLocks noGrp="1"/>
          </p:cNvSpPr>
          <p:nvPr>
            <p:ph type="body" idx="2"/>
          </p:nvPr>
        </p:nvSpPr>
        <p:spPr>
          <a:xfrm>
            <a:off x="4832400" y="1536633"/>
            <a:ext cx="3999900" cy="4555200"/>
          </a:xfrm>
          <a:prstGeom prst="rect">
            <a:avLst/>
          </a:prstGeom>
        </p:spPr>
        <p:txBody>
          <a:bodyPr spcFirstLastPara="1"/>
          <a:lstStyle>
            <a:lvl1pPr marL="457200" lvl="0" indent="-317500">
              <a:spcBef>
                <a:spcPts val="0"/>
              </a:spcBef>
              <a:spcAft>
                <a:spcPts val="0"/>
              </a:spcAft>
              <a:buSzPts val="1400"/>
              <a:buChar char="●"/>
              <a:defRPr sz="14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10" name="Shape 41">
            <a:extLst>
              <a:ext uri="{FF2B5EF4-FFF2-40B4-BE49-F238E27FC236}">
                <a16:creationId xmlns:a16="http://schemas.microsoft.com/office/drawing/2014/main" id="{7F9A3E57-5C54-4DD6-8951-EC71CB353982}"/>
              </a:ext>
            </a:extLst>
          </p:cNvPr>
          <p:cNvSpPr txBox="1">
            <a:spLocks noGrp="1"/>
          </p:cNvSpPr>
          <p:nvPr>
            <p:ph type="sldNum" idx="10"/>
          </p:nvPr>
        </p:nvSpPr>
        <p:spPr/>
        <p:txBody>
          <a:bodyPr/>
          <a:lstStyle>
            <a:lvl1pPr>
              <a:defRPr/>
            </a:lvl1pPr>
          </a:lstStyle>
          <a:p>
            <a:pPr>
              <a:defRPr/>
            </a:pPr>
            <a:fld id="{F57B6341-69BA-49DB-9776-84ECDD6AF4A4}" type="slidenum">
              <a:rPr lang="en-GB" altLang="en-US"/>
              <a:pPr>
                <a:defRPr/>
              </a:pPr>
              <a:t>‹#›</a:t>
            </a:fld>
            <a:endParaRPr lang="en-US" altLang="en-US"/>
          </a:p>
        </p:txBody>
      </p:sp>
    </p:spTree>
    <p:extLst>
      <p:ext uri="{BB962C8B-B14F-4D97-AF65-F5344CB8AC3E}">
        <p14:creationId xmlns:p14="http://schemas.microsoft.com/office/powerpoint/2010/main" val="3358753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7"/>
        <p:cNvGrpSpPr/>
        <p:nvPr/>
      </p:nvGrpSpPr>
      <p:grpSpPr>
        <a:xfrm>
          <a:off x="0" y="0"/>
          <a:ext cx="0" cy="0"/>
          <a:chOff x="0" y="0"/>
          <a:chExt cx="0" cy="0"/>
        </a:xfrm>
      </p:grpSpPr>
      <p:sp>
        <p:nvSpPr>
          <p:cNvPr id="3" name="Shape 50">
            <a:extLst>
              <a:ext uri="{FF2B5EF4-FFF2-40B4-BE49-F238E27FC236}">
                <a16:creationId xmlns:a16="http://schemas.microsoft.com/office/drawing/2014/main" id="{AE0BC33C-345C-455F-9597-FABC9FAC802D}"/>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4" name="Shape 51">
            <a:extLst>
              <a:ext uri="{FF2B5EF4-FFF2-40B4-BE49-F238E27FC236}">
                <a16:creationId xmlns:a16="http://schemas.microsoft.com/office/drawing/2014/main" id="{344A8A78-7537-4425-A7ED-05BC138D7FFE}"/>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5" name="Shape 52">
            <a:extLst>
              <a:ext uri="{FF2B5EF4-FFF2-40B4-BE49-F238E27FC236}">
                <a16:creationId xmlns:a16="http://schemas.microsoft.com/office/drawing/2014/main" id="{B3E0BF04-CEB2-47CC-ADDC-2868B17C1BFA}"/>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6" name="Shape 53">
            <a:extLst>
              <a:ext uri="{FF2B5EF4-FFF2-40B4-BE49-F238E27FC236}">
                <a16:creationId xmlns:a16="http://schemas.microsoft.com/office/drawing/2014/main" id="{47A3C6DE-5D87-4C31-AF48-E4926667BDFB}"/>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7" name="Shape 54">
            <a:extLst>
              <a:ext uri="{FF2B5EF4-FFF2-40B4-BE49-F238E27FC236}">
                <a16:creationId xmlns:a16="http://schemas.microsoft.com/office/drawing/2014/main" id="{5C19E6C2-E320-4EB1-82CF-EB70C8985EC7}"/>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48" name="Shape 48"/>
          <p:cNvSpPr txBox="1">
            <a:spLocks noGrp="1"/>
          </p:cNvSpPr>
          <p:nvPr>
            <p:ph type="title"/>
          </p:nvPr>
        </p:nvSpPr>
        <p:spPr>
          <a:xfrm>
            <a:off x="311700" y="593367"/>
            <a:ext cx="8520600" cy="763500"/>
          </a:xfrm>
          <a:prstGeom prst="rect">
            <a:avLst/>
          </a:prstGeom>
        </p:spPr>
        <p:txBody>
          <a:bodyPr spcFirstLastPara="1"/>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 name="Shape 49">
            <a:extLst>
              <a:ext uri="{FF2B5EF4-FFF2-40B4-BE49-F238E27FC236}">
                <a16:creationId xmlns:a16="http://schemas.microsoft.com/office/drawing/2014/main" id="{0B9964B1-2843-4E6E-9B3E-CFE65F6C59EE}"/>
              </a:ext>
            </a:extLst>
          </p:cNvPr>
          <p:cNvSpPr txBox="1">
            <a:spLocks noGrp="1"/>
          </p:cNvSpPr>
          <p:nvPr>
            <p:ph type="sldNum" idx="10"/>
          </p:nvPr>
        </p:nvSpPr>
        <p:spPr/>
        <p:txBody>
          <a:bodyPr/>
          <a:lstStyle>
            <a:lvl1pPr>
              <a:defRPr/>
            </a:lvl1pPr>
          </a:lstStyle>
          <a:p>
            <a:pPr>
              <a:defRPr/>
            </a:pPr>
            <a:fld id="{2CAC9952-0A87-4470-84F8-7497E1442E22}" type="slidenum">
              <a:rPr lang="en-GB" altLang="en-US"/>
              <a:pPr>
                <a:defRPr/>
              </a:pPr>
              <a:t>‹#›</a:t>
            </a:fld>
            <a:endParaRPr lang="en-US" altLang="en-US"/>
          </a:p>
        </p:txBody>
      </p:sp>
    </p:spTree>
    <p:extLst>
      <p:ext uri="{BB962C8B-B14F-4D97-AF65-F5344CB8AC3E}">
        <p14:creationId xmlns:p14="http://schemas.microsoft.com/office/powerpoint/2010/main" val="1822637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5"/>
        <p:cNvGrpSpPr/>
        <p:nvPr/>
      </p:nvGrpSpPr>
      <p:grpSpPr>
        <a:xfrm>
          <a:off x="0" y="0"/>
          <a:ext cx="0" cy="0"/>
          <a:chOff x="0" y="0"/>
          <a:chExt cx="0" cy="0"/>
        </a:xfrm>
      </p:grpSpPr>
      <p:sp>
        <p:nvSpPr>
          <p:cNvPr id="4" name="Shape 59">
            <a:extLst>
              <a:ext uri="{FF2B5EF4-FFF2-40B4-BE49-F238E27FC236}">
                <a16:creationId xmlns:a16="http://schemas.microsoft.com/office/drawing/2014/main" id="{4FC50F27-6E56-4CFA-8761-71FA1989E6C9}"/>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5" name="Shape 60">
            <a:extLst>
              <a:ext uri="{FF2B5EF4-FFF2-40B4-BE49-F238E27FC236}">
                <a16:creationId xmlns:a16="http://schemas.microsoft.com/office/drawing/2014/main" id="{1C6915C0-366A-4ED1-ABF6-883D9A58E603}"/>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6" name="Shape 61">
            <a:extLst>
              <a:ext uri="{FF2B5EF4-FFF2-40B4-BE49-F238E27FC236}">
                <a16:creationId xmlns:a16="http://schemas.microsoft.com/office/drawing/2014/main" id="{62029073-2581-48B0-8450-E40827C72E98}"/>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7" name="Shape 62">
            <a:extLst>
              <a:ext uri="{FF2B5EF4-FFF2-40B4-BE49-F238E27FC236}">
                <a16:creationId xmlns:a16="http://schemas.microsoft.com/office/drawing/2014/main" id="{7849E5AD-AABC-4E31-A63E-1A6CA44331DE}"/>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8" name="Shape 63">
            <a:extLst>
              <a:ext uri="{FF2B5EF4-FFF2-40B4-BE49-F238E27FC236}">
                <a16:creationId xmlns:a16="http://schemas.microsoft.com/office/drawing/2014/main" id="{D8EDD47D-F95E-4F08-B4DC-87A12AF1FF7E}"/>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56" name="Shape 56"/>
          <p:cNvSpPr txBox="1">
            <a:spLocks noGrp="1"/>
          </p:cNvSpPr>
          <p:nvPr>
            <p:ph type="title"/>
          </p:nvPr>
        </p:nvSpPr>
        <p:spPr>
          <a:xfrm>
            <a:off x="311700" y="740800"/>
            <a:ext cx="2808000" cy="1007700"/>
          </a:xfrm>
          <a:prstGeom prst="rect">
            <a:avLst/>
          </a:prstGeom>
        </p:spPr>
        <p:txBody>
          <a:bodyPr spcFirstLastPara="1" anchor="b"/>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Shape 57"/>
          <p:cNvSpPr txBox="1">
            <a:spLocks noGrp="1"/>
          </p:cNvSpPr>
          <p:nvPr>
            <p:ph type="body" idx="1"/>
          </p:nvPr>
        </p:nvSpPr>
        <p:spPr>
          <a:xfrm>
            <a:off x="311700" y="1852800"/>
            <a:ext cx="2808000" cy="4239300"/>
          </a:xfrm>
          <a:prstGeom prst="rect">
            <a:avLst/>
          </a:prstGeom>
        </p:spPr>
        <p:txBody>
          <a:bodyPr spcFirstLastPara="1"/>
          <a:lstStyle>
            <a:lvl1pPr marL="457200" lvl="0" indent="-304800">
              <a:spcBef>
                <a:spcPts val="0"/>
              </a:spcBef>
              <a:spcAft>
                <a:spcPts val="0"/>
              </a:spcAft>
              <a:buSzPts val="1200"/>
              <a:buChar char="●"/>
              <a:defRPr sz="12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9" name="Shape 58">
            <a:extLst>
              <a:ext uri="{FF2B5EF4-FFF2-40B4-BE49-F238E27FC236}">
                <a16:creationId xmlns:a16="http://schemas.microsoft.com/office/drawing/2014/main" id="{BE8921A1-B58C-4C72-BD09-1AF5F977353A}"/>
              </a:ext>
            </a:extLst>
          </p:cNvPr>
          <p:cNvSpPr txBox="1">
            <a:spLocks noGrp="1"/>
          </p:cNvSpPr>
          <p:nvPr>
            <p:ph type="sldNum" idx="10"/>
          </p:nvPr>
        </p:nvSpPr>
        <p:spPr/>
        <p:txBody>
          <a:bodyPr/>
          <a:lstStyle>
            <a:lvl1pPr>
              <a:defRPr/>
            </a:lvl1pPr>
          </a:lstStyle>
          <a:p>
            <a:pPr>
              <a:defRPr/>
            </a:pPr>
            <a:fld id="{6CA6CC65-74F8-4412-A59C-468CF57CC2BD}" type="slidenum">
              <a:rPr lang="en-GB" altLang="en-US"/>
              <a:pPr>
                <a:defRPr/>
              </a:pPr>
              <a:t>‹#›</a:t>
            </a:fld>
            <a:endParaRPr lang="en-US" altLang="en-US"/>
          </a:p>
        </p:txBody>
      </p:sp>
    </p:spTree>
    <p:extLst>
      <p:ext uri="{BB962C8B-B14F-4D97-AF65-F5344CB8AC3E}">
        <p14:creationId xmlns:p14="http://schemas.microsoft.com/office/powerpoint/2010/main" val="2799593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4"/>
        <p:cNvGrpSpPr/>
        <p:nvPr/>
      </p:nvGrpSpPr>
      <p:grpSpPr>
        <a:xfrm>
          <a:off x="0" y="0"/>
          <a:ext cx="0" cy="0"/>
          <a:chOff x="0" y="0"/>
          <a:chExt cx="0" cy="0"/>
        </a:xfrm>
      </p:grpSpPr>
      <p:sp>
        <p:nvSpPr>
          <p:cNvPr id="3" name="Shape 67">
            <a:extLst>
              <a:ext uri="{FF2B5EF4-FFF2-40B4-BE49-F238E27FC236}">
                <a16:creationId xmlns:a16="http://schemas.microsoft.com/office/drawing/2014/main" id="{B7FAED03-376B-4AFD-8BFB-1E7FD6166FBA}"/>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4" name="Shape 68">
            <a:extLst>
              <a:ext uri="{FF2B5EF4-FFF2-40B4-BE49-F238E27FC236}">
                <a16:creationId xmlns:a16="http://schemas.microsoft.com/office/drawing/2014/main" id="{35D40C1F-57EC-4274-B875-C79293FE78A2}"/>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5" name="Shape 69">
            <a:extLst>
              <a:ext uri="{FF2B5EF4-FFF2-40B4-BE49-F238E27FC236}">
                <a16:creationId xmlns:a16="http://schemas.microsoft.com/office/drawing/2014/main" id="{4D71C951-641B-4241-8619-F1A071F136F2}"/>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6" name="Shape 70">
            <a:extLst>
              <a:ext uri="{FF2B5EF4-FFF2-40B4-BE49-F238E27FC236}">
                <a16:creationId xmlns:a16="http://schemas.microsoft.com/office/drawing/2014/main" id="{5212EDB8-2942-4A54-9E64-53C5E9C6F36F}"/>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7" name="Shape 71">
            <a:extLst>
              <a:ext uri="{FF2B5EF4-FFF2-40B4-BE49-F238E27FC236}">
                <a16:creationId xmlns:a16="http://schemas.microsoft.com/office/drawing/2014/main" id="{71339BC3-EA88-40AA-9A8C-F0318F6D0A5B}"/>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65" name="Shape 65"/>
          <p:cNvSpPr txBox="1">
            <a:spLocks noGrp="1"/>
          </p:cNvSpPr>
          <p:nvPr>
            <p:ph type="title"/>
          </p:nvPr>
        </p:nvSpPr>
        <p:spPr>
          <a:xfrm>
            <a:off x="490250" y="600200"/>
            <a:ext cx="6367800" cy="5454300"/>
          </a:xfrm>
          <a:prstGeom prst="rect">
            <a:avLst/>
          </a:prstGeom>
        </p:spPr>
        <p:txBody>
          <a:bodyPr spcFirstLastPara="1" anchor="ct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 name="Shape 66">
            <a:extLst>
              <a:ext uri="{FF2B5EF4-FFF2-40B4-BE49-F238E27FC236}">
                <a16:creationId xmlns:a16="http://schemas.microsoft.com/office/drawing/2014/main" id="{CED99A6A-EDC1-47BB-9525-BA0040AC72BF}"/>
              </a:ext>
            </a:extLst>
          </p:cNvPr>
          <p:cNvSpPr txBox="1">
            <a:spLocks noGrp="1"/>
          </p:cNvSpPr>
          <p:nvPr>
            <p:ph type="sldNum" idx="10"/>
          </p:nvPr>
        </p:nvSpPr>
        <p:spPr/>
        <p:txBody>
          <a:bodyPr/>
          <a:lstStyle>
            <a:lvl1pPr>
              <a:defRPr/>
            </a:lvl1pPr>
          </a:lstStyle>
          <a:p>
            <a:pPr>
              <a:defRPr/>
            </a:pPr>
            <a:fld id="{4DDFBCC2-298B-4197-A7C4-8C16C27077E4}" type="slidenum">
              <a:rPr lang="en-GB" altLang="en-US"/>
              <a:pPr>
                <a:defRPr/>
              </a:pPr>
              <a:t>‹#›</a:t>
            </a:fld>
            <a:endParaRPr lang="en-US" altLang="en-US"/>
          </a:p>
        </p:txBody>
      </p:sp>
    </p:spTree>
    <p:extLst>
      <p:ext uri="{BB962C8B-B14F-4D97-AF65-F5344CB8AC3E}">
        <p14:creationId xmlns:p14="http://schemas.microsoft.com/office/powerpoint/2010/main" val="1482692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2"/>
        <p:cNvGrpSpPr/>
        <p:nvPr/>
      </p:nvGrpSpPr>
      <p:grpSpPr>
        <a:xfrm>
          <a:off x="0" y="0"/>
          <a:ext cx="0" cy="0"/>
          <a:chOff x="0" y="0"/>
          <a:chExt cx="0" cy="0"/>
        </a:xfrm>
      </p:grpSpPr>
      <p:sp>
        <p:nvSpPr>
          <p:cNvPr id="5" name="Shape 73">
            <a:extLst>
              <a:ext uri="{FF2B5EF4-FFF2-40B4-BE49-F238E27FC236}">
                <a16:creationId xmlns:a16="http://schemas.microsoft.com/office/drawing/2014/main" id="{1E92BDA6-A8A2-4ABD-8210-E3FD29FCE570}"/>
              </a:ext>
            </a:extLst>
          </p:cNvPr>
          <p:cNvSpPr>
            <a:spLocks noChangeArrowheads="1"/>
          </p:cNvSpPr>
          <p:nvPr/>
        </p:nvSpPr>
        <p:spPr bwMode="auto">
          <a:xfrm>
            <a:off x="4572000" y="0"/>
            <a:ext cx="4572000" cy="6858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a:p>
        </p:txBody>
      </p:sp>
      <p:sp>
        <p:nvSpPr>
          <p:cNvPr id="6" name="Shape 78">
            <a:extLst>
              <a:ext uri="{FF2B5EF4-FFF2-40B4-BE49-F238E27FC236}">
                <a16:creationId xmlns:a16="http://schemas.microsoft.com/office/drawing/2014/main" id="{6369B7EF-171F-4F22-AE34-59F7BBC5D2D3}"/>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7" name="Shape 79">
            <a:extLst>
              <a:ext uri="{FF2B5EF4-FFF2-40B4-BE49-F238E27FC236}">
                <a16:creationId xmlns:a16="http://schemas.microsoft.com/office/drawing/2014/main" id="{273C3A84-EE75-4904-A47D-2D927D4739BD}"/>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8" name="Shape 80">
            <a:extLst>
              <a:ext uri="{FF2B5EF4-FFF2-40B4-BE49-F238E27FC236}">
                <a16:creationId xmlns:a16="http://schemas.microsoft.com/office/drawing/2014/main" id="{D1A97100-77E7-475C-AAAB-660D3824EA1A}"/>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9" name="Shape 81">
            <a:extLst>
              <a:ext uri="{FF2B5EF4-FFF2-40B4-BE49-F238E27FC236}">
                <a16:creationId xmlns:a16="http://schemas.microsoft.com/office/drawing/2014/main" id="{BAF3B789-EB67-4350-9759-AEDB0B16C93E}"/>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10" name="Shape 82">
            <a:extLst>
              <a:ext uri="{FF2B5EF4-FFF2-40B4-BE49-F238E27FC236}">
                <a16:creationId xmlns:a16="http://schemas.microsoft.com/office/drawing/2014/main" id="{E3157758-F0FD-4CBB-8175-DCA1EDAC36C1}"/>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74" name="Shape 74"/>
          <p:cNvSpPr txBox="1">
            <a:spLocks noGrp="1"/>
          </p:cNvSpPr>
          <p:nvPr>
            <p:ph type="title"/>
          </p:nvPr>
        </p:nvSpPr>
        <p:spPr>
          <a:xfrm>
            <a:off x="265500" y="1644233"/>
            <a:ext cx="4045200" cy="1976400"/>
          </a:xfrm>
          <a:prstGeom prst="rect">
            <a:avLst/>
          </a:prstGeom>
        </p:spPr>
        <p:txBody>
          <a:bodyPr spcFirstLastPara="1" anchor="b"/>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Shape 75"/>
          <p:cNvSpPr txBox="1">
            <a:spLocks noGrp="1"/>
          </p:cNvSpPr>
          <p:nvPr>
            <p:ph type="subTitle" idx="1"/>
          </p:nvPr>
        </p:nvSpPr>
        <p:spPr>
          <a:xfrm>
            <a:off x="265500" y="3737433"/>
            <a:ext cx="4045200" cy="1646700"/>
          </a:xfrm>
          <a:prstGeom prst="rect">
            <a:avLst/>
          </a:prstGeom>
        </p:spPr>
        <p:txBody>
          <a:bodyPr spcFirstLastPara="1"/>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Shape 76"/>
          <p:cNvSpPr txBox="1">
            <a:spLocks noGrp="1"/>
          </p:cNvSpPr>
          <p:nvPr>
            <p:ph type="body" idx="2"/>
          </p:nvPr>
        </p:nvSpPr>
        <p:spPr>
          <a:xfrm>
            <a:off x="4939500" y="965433"/>
            <a:ext cx="3837000" cy="4926900"/>
          </a:xfrm>
          <a:prstGeom prst="rect">
            <a:avLst/>
          </a:prstGeom>
        </p:spPr>
        <p:txBody>
          <a:bodyPr spcFirstLastPara="1" anchor="ctr"/>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11" name="Shape 77">
            <a:extLst>
              <a:ext uri="{FF2B5EF4-FFF2-40B4-BE49-F238E27FC236}">
                <a16:creationId xmlns:a16="http://schemas.microsoft.com/office/drawing/2014/main" id="{D744FAD2-3160-4955-AF73-DCE5FF3FF57A}"/>
              </a:ext>
            </a:extLst>
          </p:cNvPr>
          <p:cNvSpPr txBox="1">
            <a:spLocks noGrp="1"/>
          </p:cNvSpPr>
          <p:nvPr>
            <p:ph type="sldNum" idx="10"/>
          </p:nvPr>
        </p:nvSpPr>
        <p:spPr/>
        <p:txBody>
          <a:bodyPr/>
          <a:lstStyle>
            <a:lvl1pPr>
              <a:defRPr/>
            </a:lvl1pPr>
          </a:lstStyle>
          <a:p>
            <a:pPr>
              <a:defRPr/>
            </a:pPr>
            <a:fld id="{5084E5F7-08A5-4335-9D32-86F8DC058DBD}" type="slidenum">
              <a:rPr lang="en-GB" altLang="en-US"/>
              <a:pPr>
                <a:defRPr/>
              </a:pPr>
              <a:t>‹#›</a:t>
            </a:fld>
            <a:endParaRPr lang="en-US" altLang="en-US"/>
          </a:p>
        </p:txBody>
      </p:sp>
    </p:spTree>
    <p:extLst>
      <p:ext uri="{BB962C8B-B14F-4D97-AF65-F5344CB8AC3E}">
        <p14:creationId xmlns:p14="http://schemas.microsoft.com/office/powerpoint/2010/main" val="421582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3"/>
        <p:cNvGrpSpPr/>
        <p:nvPr/>
      </p:nvGrpSpPr>
      <p:grpSpPr>
        <a:xfrm>
          <a:off x="0" y="0"/>
          <a:ext cx="0" cy="0"/>
          <a:chOff x="0" y="0"/>
          <a:chExt cx="0" cy="0"/>
        </a:xfrm>
      </p:grpSpPr>
      <p:sp>
        <p:nvSpPr>
          <p:cNvPr id="3" name="Shape 86">
            <a:extLst>
              <a:ext uri="{FF2B5EF4-FFF2-40B4-BE49-F238E27FC236}">
                <a16:creationId xmlns:a16="http://schemas.microsoft.com/office/drawing/2014/main" id="{3F373361-4F12-4C39-A118-F2D058541F27}"/>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4" name="Shape 87">
            <a:extLst>
              <a:ext uri="{FF2B5EF4-FFF2-40B4-BE49-F238E27FC236}">
                <a16:creationId xmlns:a16="http://schemas.microsoft.com/office/drawing/2014/main" id="{2EE4BB2E-9E4F-4039-96D3-308E79EF3BC6}"/>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5" name="Shape 88">
            <a:extLst>
              <a:ext uri="{FF2B5EF4-FFF2-40B4-BE49-F238E27FC236}">
                <a16:creationId xmlns:a16="http://schemas.microsoft.com/office/drawing/2014/main" id="{6C249CC4-0D3E-4C47-8080-45CD90B66C7D}"/>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6" name="Shape 89">
            <a:extLst>
              <a:ext uri="{FF2B5EF4-FFF2-40B4-BE49-F238E27FC236}">
                <a16:creationId xmlns:a16="http://schemas.microsoft.com/office/drawing/2014/main" id="{6785E744-2CCE-4C82-8D4C-11C64BE2C354}"/>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7" name="Shape 90">
            <a:extLst>
              <a:ext uri="{FF2B5EF4-FFF2-40B4-BE49-F238E27FC236}">
                <a16:creationId xmlns:a16="http://schemas.microsoft.com/office/drawing/2014/main" id="{F5DF6F46-6C21-444D-A9B8-0A74A9786542}"/>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84" name="Shape 84"/>
          <p:cNvSpPr txBox="1">
            <a:spLocks noGrp="1"/>
          </p:cNvSpPr>
          <p:nvPr>
            <p:ph type="body" idx="1"/>
          </p:nvPr>
        </p:nvSpPr>
        <p:spPr>
          <a:xfrm>
            <a:off x="311700" y="5640767"/>
            <a:ext cx="5998800" cy="806700"/>
          </a:xfrm>
          <a:prstGeom prst="rect">
            <a:avLst/>
          </a:prstGeom>
        </p:spPr>
        <p:txBody>
          <a:bodyPr spcFirstLastPara="1" anchor="ctr"/>
          <a:lstStyle>
            <a:lvl1pPr marL="457200" lvl="0" indent="-228600">
              <a:lnSpc>
                <a:spcPct val="100000"/>
              </a:lnSpc>
              <a:spcBef>
                <a:spcPts val="0"/>
              </a:spcBef>
              <a:spcAft>
                <a:spcPts val="0"/>
              </a:spcAft>
              <a:buSzPts val="2200"/>
              <a:buNone/>
              <a:defRPr/>
            </a:lvl1pPr>
          </a:lstStyle>
          <a:p>
            <a:endParaRPr/>
          </a:p>
        </p:txBody>
      </p:sp>
      <p:sp>
        <p:nvSpPr>
          <p:cNvPr id="8" name="Shape 85">
            <a:extLst>
              <a:ext uri="{FF2B5EF4-FFF2-40B4-BE49-F238E27FC236}">
                <a16:creationId xmlns:a16="http://schemas.microsoft.com/office/drawing/2014/main" id="{C2A8EFB2-0DDF-491D-867C-71A87AF64100}"/>
              </a:ext>
            </a:extLst>
          </p:cNvPr>
          <p:cNvSpPr txBox="1">
            <a:spLocks noGrp="1"/>
          </p:cNvSpPr>
          <p:nvPr>
            <p:ph type="sldNum" idx="10"/>
          </p:nvPr>
        </p:nvSpPr>
        <p:spPr/>
        <p:txBody>
          <a:bodyPr/>
          <a:lstStyle>
            <a:lvl1pPr>
              <a:defRPr/>
            </a:lvl1pPr>
          </a:lstStyle>
          <a:p>
            <a:pPr>
              <a:defRPr/>
            </a:pPr>
            <a:fld id="{630B0319-4036-4196-9172-FC4DCA98B0E7}" type="slidenum">
              <a:rPr lang="en-GB" altLang="en-US"/>
              <a:pPr>
                <a:defRPr/>
              </a:pPr>
              <a:t>‹#›</a:t>
            </a:fld>
            <a:endParaRPr lang="en-US" altLang="en-US"/>
          </a:p>
        </p:txBody>
      </p:sp>
    </p:spTree>
    <p:extLst>
      <p:ext uri="{BB962C8B-B14F-4D97-AF65-F5344CB8AC3E}">
        <p14:creationId xmlns:p14="http://schemas.microsoft.com/office/powerpoint/2010/main" val="2284088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1"/>
        <p:cNvGrpSpPr/>
        <p:nvPr/>
      </p:nvGrpSpPr>
      <p:grpSpPr>
        <a:xfrm>
          <a:off x="0" y="0"/>
          <a:ext cx="0" cy="0"/>
          <a:chOff x="0" y="0"/>
          <a:chExt cx="0" cy="0"/>
        </a:xfrm>
      </p:grpSpPr>
      <p:sp>
        <p:nvSpPr>
          <p:cNvPr id="4" name="Shape 95">
            <a:extLst>
              <a:ext uri="{FF2B5EF4-FFF2-40B4-BE49-F238E27FC236}">
                <a16:creationId xmlns:a16="http://schemas.microsoft.com/office/drawing/2014/main" id="{D3919F7F-7572-4E8F-A295-7C0A7254087C}"/>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5" name="Shape 96">
            <a:extLst>
              <a:ext uri="{FF2B5EF4-FFF2-40B4-BE49-F238E27FC236}">
                <a16:creationId xmlns:a16="http://schemas.microsoft.com/office/drawing/2014/main" id="{2BD3450B-02EE-4A1A-A471-A8313B9900EB}"/>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6" name="Shape 97">
            <a:extLst>
              <a:ext uri="{FF2B5EF4-FFF2-40B4-BE49-F238E27FC236}">
                <a16:creationId xmlns:a16="http://schemas.microsoft.com/office/drawing/2014/main" id="{47E51BAE-203D-4667-9FCC-B1855EAD19F8}"/>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7" name="Shape 98">
            <a:extLst>
              <a:ext uri="{FF2B5EF4-FFF2-40B4-BE49-F238E27FC236}">
                <a16:creationId xmlns:a16="http://schemas.microsoft.com/office/drawing/2014/main" id="{F729233B-12B1-458C-9128-21E643E97246}"/>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8" name="Shape 99">
            <a:extLst>
              <a:ext uri="{FF2B5EF4-FFF2-40B4-BE49-F238E27FC236}">
                <a16:creationId xmlns:a16="http://schemas.microsoft.com/office/drawing/2014/main" id="{1A4E8BB2-6F35-4E85-A63D-1308BFB3FDF8}"/>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92" name="Shape 92"/>
          <p:cNvSpPr txBox="1">
            <a:spLocks noGrp="1"/>
          </p:cNvSpPr>
          <p:nvPr>
            <p:ph type="title"/>
          </p:nvPr>
        </p:nvSpPr>
        <p:spPr>
          <a:xfrm>
            <a:off x="311700" y="1474833"/>
            <a:ext cx="8520600" cy="2618100"/>
          </a:xfrm>
          <a:prstGeom prst="rect">
            <a:avLst/>
          </a:prstGeom>
        </p:spPr>
        <p:txBody>
          <a:bodyPr spcFirstLastPara="1" anchor="b"/>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93" name="Shape 93"/>
          <p:cNvSpPr txBox="1">
            <a:spLocks noGrp="1"/>
          </p:cNvSpPr>
          <p:nvPr>
            <p:ph type="body" idx="1"/>
          </p:nvPr>
        </p:nvSpPr>
        <p:spPr>
          <a:xfrm>
            <a:off x="311700" y="4202967"/>
            <a:ext cx="8520600" cy="1734300"/>
          </a:xfrm>
          <a:prstGeom prst="rect">
            <a:avLst/>
          </a:prstGeom>
        </p:spPr>
        <p:txBody>
          <a:bodyPr spcFirstLastPara="1"/>
          <a:lstStyle>
            <a:lvl1pPr marL="457200" lvl="0" indent="-368300" algn="ctr">
              <a:spcBef>
                <a:spcPts val="0"/>
              </a:spcBef>
              <a:spcAft>
                <a:spcPts val="0"/>
              </a:spcAft>
              <a:buSzPts val="2200"/>
              <a:buChar char="●"/>
              <a:defRPr/>
            </a:lvl1pPr>
            <a:lvl2pPr marL="914400" lvl="1" indent="-342900" algn="ctr">
              <a:spcBef>
                <a:spcPts val="600"/>
              </a:spcBef>
              <a:spcAft>
                <a:spcPts val="0"/>
              </a:spcAft>
              <a:buSzPts val="1800"/>
              <a:buChar char="○"/>
              <a:defRPr/>
            </a:lvl2pPr>
            <a:lvl3pPr marL="1371600" lvl="2" indent="-342900" algn="ctr">
              <a:spcBef>
                <a:spcPts val="600"/>
              </a:spcBef>
              <a:spcAft>
                <a:spcPts val="0"/>
              </a:spcAft>
              <a:buSzPts val="1800"/>
              <a:buChar char="■"/>
              <a:defRPr/>
            </a:lvl3pPr>
            <a:lvl4pPr marL="1828800" lvl="3" indent="-342900" algn="ctr">
              <a:spcBef>
                <a:spcPts val="600"/>
              </a:spcBef>
              <a:spcAft>
                <a:spcPts val="0"/>
              </a:spcAft>
              <a:buSzPts val="1800"/>
              <a:buChar char="●"/>
              <a:defRPr/>
            </a:lvl4pPr>
            <a:lvl5pPr marL="2286000" lvl="4" indent="-342900" algn="ctr">
              <a:spcBef>
                <a:spcPts val="600"/>
              </a:spcBef>
              <a:spcAft>
                <a:spcPts val="0"/>
              </a:spcAft>
              <a:buSzPts val="1800"/>
              <a:buChar char="○"/>
              <a:defRPr/>
            </a:lvl5pPr>
            <a:lvl6pPr marL="2743200" lvl="5" indent="-342900" algn="ctr">
              <a:spcBef>
                <a:spcPts val="600"/>
              </a:spcBef>
              <a:spcAft>
                <a:spcPts val="0"/>
              </a:spcAft>
              <a:buSzPts val="1800"/>
              <a:buChar char="■"/>
              <a:defRPr/>
            </a:lvl6pPr>
            <a:lvl7pPr marL="3200400" lvl="6" indent="-342900" algn="ctr">
              <a:spcBef>
                <a:spcPts val="600"/>
              </a:spcBef>
              <a:spcAft>
                <a:spcPts val="0"/>
              </a:spcAft>
              <a:buSzPts val="1800"/>
              <a:buChar char="●"/>
              <a:defRPr/>
            </a:lvl7pPr>
            <a:lvl8pPr marL="3657600" lvl="7" indent="-342900" algn="ctr">
              <a:spcBef>
                <a:spcPts val="600"/>
              </a:spcBef>
              <a:spcAft>
                <a:spcPts val="0"/>
              </a:spcAft>
              <a:buSzPts val="1800"/>
              <a:buChar char="○"/>
              <a:defRPr/>
            </a:lvl8pPr>
            <a:lvl9pPr marL="4114800" lvl="8" indent="-342900" algn="ctr">
              <a:spcBef>
                <a:spcPts val="600"/>
              </a:spcBef>
              <a:spcAft>
                <a:spcPts val="600"/>
              </a:spcAft>
              <a:buSzPts val="1800"/>
              <a:buChar char="■"/>
              <a:defRPr/>
            </a:lvl9pPr>
          </a:lstStyle>
          <a:p>
            <a:endParaRPr/>
          </a:p>
        </p:txBody>
      </p:sp>
      <p:sp>
        <p:nvSpPr>
          <p:cNvPr id="9" name="Shape 94">
            <a:extLst>
              <a:ext uri="{FF2B5EF4-FFF2-40B4-BE49-F238E27FC236}">
                <a16:creationId xmlns:a16="http://schemas.microsoft.com/office/drawing/2014/main" id="{ADAA53FE-194E-4228-B15E-DD884CAD1E1D}"/>
              </a:ext>
            </a:extLst>
          </p:cNvPr>
          <p:cNvSpPr txBox="1">
            <a:spLocks noGrp="1"/>
          </p:cNvSpPr>
          <p:nvPr>
            <p:ph type="sldNum" idx="10"/>
          </p:nvPr>
        </p:nvSpPr>
        <p:spPr/>
        <p:txBody>
          <a:bodyPr/>
          <a:lstStyle>
            <a:lvl1pPr>
              <a:defRPr/>
            </a:lvl1pPr>
          </a:lstStyle>
          <a:p>
            <a:pPr>
              <a:defRPr/>
            </a:pPr>
            <a:fld id="{3011DD53-1758-4648-9B03-DB68920FA682}" type="slidenum">
              <a:rPr lang="en-GB" altLang="en-US"/>
              <a:pPr>
                <a:defRPr/>
              </a:pPr>
              <a:t>‹#›</a:t>
            </a:fld>
            <a:endParaRPr lang="en-US" altLang="en-US"/>
          </a:p>
        </p:txBody>
      </p:sp>
    </p:spTree>
    <p:extLst>
      <p:ext uri="{BB962C8B-B14F-4D97-AF65-F5344CB8AC3E}">
        <p14:creationId xmlns:p14="http://schemas.microsoft.com/office/powerpoint/2010/main" val="646460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2" name="Shape 102">
            <a:extLst>
              <a:ext uri="{FF2B5EF4-FFF2-40B4-BE49-F238E27FC236}">
                <a16:creationId xmlns:a16="http://schemas.microsoft.com/office/drawing/2014/main" id="{D383AF04-6864-4B38-8B2C-2953F4FBE075}"/>
              </a:ext>
            </a:extLst>
          </p:cNvPr>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3" name="Shape 103">
            <a:extLst>
              <a:ext uri="{FF2B5EF4-FFF2-40B4-BE49-F238E27FC236}">
                <a16:creationId xmlns:a16="http://schemas.microsoft.com/office/drawing/2014/main" id="{30A085A1-3DF2-495E-9816-19A0CB7F20EB}"/>
              </a:ext>
            </a:extLst>
          </p:cNvPr>
          <p:cNvSpPr txBox="1">
            <a:spLocks noChangeArrowheads="1"/>
          </p:cNvSpPr>
          <p:nvPr/>
        </p:nvSpPr>
        <p:spPr bwMode="auto">
          <a:xfrm>
            <a:off x="3343275" y="6430963"/>
            <a:ext cx="24574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Excellence and Service</a:t>
            </a:r>
            <a:endParaRPr lang="en-US" altLang="en-US">
              <a:solidFill>
                <a:srgbClr val="FFFFFF"/>
              </a:solidFill>
              <a:latin typeface="Georgia" panose="02040502050405020303" pitchFamily="18" charset="0"/>
              <a:sym typeface="Georgia" panose="02040502050405020303" pitchFamily="18" charset="0"/>
            </a:endParaRPr>
          </a:p>
        </p:txBody>
      </p:sp>
      <p:sp>
        <p:nvSpPr>
          <p:cNvPr id="4" name="Shape 104">
            <a:extLst>
              <a:ext uri="{FF2B5EF4-FFF2-40B4-BE49-F238E27FC236}">
                <a16:creationId xmlns:a16="http://schemas.microsoft.com/office/drawing/2014/main" id="{E60A3499-0798-4023-A0D3-89907F109AD9}"/>
              </a:ext>
            </a:extLst>
          </p:cNvPr>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5" name="Shape 105">
            <a:extLst>
              <a:ext uri="{FF2B5EF4-FFF2-40B4-BE49-F238E27FC236}">
                <a16:creationId xmlns:a16="http://schemas.microsoft.com/office/drawing/2014/main" id="{4660908D-ACCB-4430-8C4F-6148903DC09E}"/>
              </a:ext>
            </a:extLst>
          </p:cNvPr>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kern="0">
              <a:latin typeface="Arial"/>
              <a:ea typeface="Arial"/>
              <a:cs typeface="Arial"/>
              <a:sym typeface="Arial"/>
            </a:endParaRPr>
          </a:p>
        </p:txBody>
      </p:sp>
      <p:sp>
        <p:nvSpPr>
          <p:cNvPr id="6" name="Shape 106">
            <a:extLst>
              <a:ext uri="{FF2B5EF4-FFF2-40B4-BE49-F238E27FC236}">
                <a16:creationId xmlns:a16="http://schemas.microsoft.com/office/drawing/2014/main" id="{2F25002D-ED50-4378-8D78-6B8455AB8A1F}"/>
              </a:ext>
            </a:extLst>
          </p:cNvPr>
          <p:cNvSpPr txBox="1">
            <a:spLocks noChangeArrowheads="1"/>
          </p:cNvSpPr>
          <p:nvPr/>
        </p:nvSpPr>
        <p:spPr bwMode="auto">
          <a:xfrm>
            <a:off x="6945313" y="247650"/>
            <a:ext cx="22082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GB" altLang="en-US">
                <a:solidFill>
                  <a:srgbClr val="FFFFFF"/>
                </a:solidFill>
                <a:latin typeface="Georgia" panose="02040502050405020303" pitchFamily="18" charset="0"/>
                <a:sym typeface="Georgia" panose="02040502050405020303" pitchFamily="18" charset="0"/>
              </a:rPr>
              <a:t>CHRIST</a:t>
            </a:r>
            <a:br>
              <a:rPr lang="en-GB" altLang="en-US">
                <a:solidFill>
                  <a:srgbClr val="FFFFFF"/>
                </a:solidFill>
                <a:latin typeface="Georgia" panose="02040502050405020303" pitchFamily="18" charset="0"/>
                <a:sym typeface="Georgia" panose="02040502050405020303" pitchFamily="18" charset="0"/>
              </a:rPr>
            </a:br>
            <a:r>
              <a:rPr lang="en-GB" altLang="en-US" sz="1200">
                <a:solidFill>
                  <a:srgbClr val="FFFFFF"/>
                </a:solidFill>
                <a:latin typeface="Georgia" panose="02040502050405020303" pitchFamily="18" charset="0"/>
                <a:sym typeface="Georgia" panose="02040502050405020303" pitchFamily="18" charset="0"/>
              </a:rPr>
              <a:t>Deemed to be University</a:t>
            </a:r>
            <a:endParaRPr lang="en-US" altLang="en-US" sz="1200">
              <a:solidFill>
                <a:srgbClr val="FFFFFF"/>
              </a:solidFill>
              <a:latin typeface="Georgia" panose="02040502050405020303" pitchFamily="18" charset="0"/>
              <a:sym typeface="Georgia" panose="02040502050405020303" pitchFamily="18" charset="0"/>
            </a:endParaRPr>
          </a:p>
        </p:txBody>
      </p:sp>
      <p:sp>
        <p:nvSpPr>
          <p:cNvPr id="7" name="Shape 101">
            <a:extLst>
              <a:ext uri="{FF2B5EF4-FFF2-40B4-BE49-F238E27FC236}">
                <a16:creationId xmlns:a16="http://schemas.microsoft.com/office/drawing/2014/main" id="{987CAA05-4445-40D2-BA7D-2FAE52D48436}"/>
              </a:ext>
            </a:extLst>
          </p:cNvPr>
          <p:cNvSpPr txBox="1">
            <a:spLocks noGrp="1"/>
          </p:cNvSpPr>
          <p:nvPr>
            <p:ph type="sldNum" idx="10"/>
          </p:nvPr>
        </p:nvSpPr>
        <p:spPr/>
        <p:txBody>
          <a:bodyPr/>
          <a:lstStyle>
            <a:lvl1pPr>
              <a:defRPr/>
            </a:lvl1pPr>
          </a:lstStyle>
          <a:p>
            <a:pPr>
              <a:defRPr/>
            </a:pPr>
            <a:fld id="{EEC4746D-2915-46BF-985B-D22A733B7AB4}" type="slidenum">
              <a:rPr lang="en-GB" altLang="en-US"/>
              <a:pPr>
                <a:defRPr/>
              </a:pPr>
              <a:t>‹#›</a:t>
            </a:fld>
            <a:endParaRPr lang="en-US" altLang="en-US"/>
          </a:p>
        </p:txBody>
      </p:sp>
    </p:spTree>
    <p:extLst>
      <p:ext uri="{BB962C8B-B14F-4D97-AF65-F5344CB8AC3E}">
        <p14:creationId xmlns:p14="http://schemas.microsoft.com/office/powerpoint/2010/main" val="76517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hape 6">
            <a:extLst>
              <a:ext uri="{FF2B5EF4-FFF2-40B4-BE49-F238E27FC236}">
                <a16:creationId xmlns:a16="http://schemas.microsoft.com/office/drawing/2014/main" id="{111A37A6-F796-4A7E-B993-538E8E233CD1}"/>
              </a:ext>
            </a:extLst>
          </p:cNvPr>
          <p:cNvSpPr txBox="1">
            <a:spLocks noGrp="1"/>
          </p:cNvSpPr>
          <p:nvPr>
            <p:ph type="title"/>
          </p:nvPr>
        </p:nvSpPr>
        <p:spPr bwMode="auto">
          <a:xfrm>
            <a:off x="311150" y="593725"/>
            <a:ext cx="85217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027" name="Shape 7">
            <a:extLst>
              <a:ext uri="{FF2B5EF4-FFF2-40B4-BE49-F238E27FC236}">
                <a16:creationId xmlns:a16="http://schemas.microsoft.com/office/drawing/2014/main" id="{CF70FD2C-E233-4C7C-B0A7-D6A5BAA65A9E}"/>
              </a:ext>
            </a:extLst>
          </p:cNvPr>
          <p:cNvSpPr txBox="1">
            <a:spLocks noGrp="1"/>
          </p:cNvSpPr>
          <p:nvPr>
            <p:ph type="body" idx="1"/>
          </p:nvPr>
        </p:nvSpPr>
        <p:spPr bwMode="auto">
          <a:xfrm>
            <a:off x="311150" y="1536700"/>
            <a:ext cx="8521700" cy="455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028" name="Shape 8">
            <a:extLst>
              <a:ext uri="{FF2B5EF4-FFF2-40B4-BE49-F238E27FC236}">
                <a16:creationId xmlns:a16="http://schemas.microsoft.com/office/drawing/2014/main" id="{2418D12C-6BFB-44DD-B140-692CBC5E62F1}"/>
              </a:ext>
            </a:extLst>
          </p:cNvPr>
          <p:cNvSpPr txBox="1">
            <a:spLocks noGrp="1"/>
          </p:cNvSpPr>
          <p:nvPr>
            <p:ph type="sldNum" idx="12"/>
          </p:nvPr>
        </p:nvSpPr>
        <p:spPr bwMode="auto">
          <a:xfrm>
            <a:off x="8472488" y="6218238"/>
            <a:ext cx="549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ctr" anchorCtr="0" compatLnSpc="1">
            <a:prstTxWarp prst="textNoShape">
              <a:avLst/>
            </a:prstTxWarp>
          </a:bodyPr>
          <a:lstStyle>
            <a:lvl1pPr algn="r" eaLnBrk="1" hangingPunct="1">
              <a:buClr>
                <a:srgbClr val="000000"/>
              </a:buClr>
              <a:buFont typeface="Arial" panose="020B0604020202020204" pitchFamily="34" charset="0"/>
              <a:buNone/>
              <a:defRPr sz="1000">
                <a:solidFill>
                  <a:srgbClr val="595959"/>
                </a:solidFill>
              </a:defRPr>
            </a:lvl1pPr>
          </a:lstStyle>
          <a:p>
            <a:pPr>
              <a:defRPr/>
            </a:pPr>
            <a:fld id="{06ADA654-5B7C-4AAC-9D83-32035A00E3C0}" type="slidenum">
              <a:rPr lang="en-GB" altLang="en-US"/>
              <a:pPr>
                <a:defRPr/>
              </a:pPr>
              <a:t>‹#›</a:t>
            </a:fld>
            <a:endParaRPr lang="en-US" altLang="en-US"/>
          </a:p>
        </p:txBody>
      </p:sp>
    </p:spTree>
  </p:cSld>
  <p:clrMap bg1="lt1" tx1="dk1" bg2="dk2" tx2="lt2" accent1="accent1" accent2="accent2" accent3="accent3" accent4="accent4" accent5="accent5" accent6="accent6" hlink="hlink" folHlink="folHlink"/>
  <p:sldLayoutIdLst>
    <p:sldLayoutId id="2147483760"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Lst>
  <p:hf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Times New Roman" pitchFamily="18" charset="0"/>
          <a:ea typeface="Times New Roman" pitchFamily="18" charset="0"/>
          <a:cs typeface="Times New Roman" pitchFamily="18" charset="0"/>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Times New Roman" panose="02020603050405020304" pitchFamily="18" charset="0"/>
          <a:ea typeface="Arial"/>
          <a:cs typeface="Times New Roman" panose="02020603050405020304" pitchFamily="18" charset="0"/>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Times New Roman" panose="02020603050405020304" pitchFamily="18" charset="0"/>
          <a:ea typeface="Arial"/>
          <a:cs typeface="Times New Roman" panose="02020603050405020304" pitchFamily="18" charset="0"/>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Times New Roman" panose="02020603050405020304" pitchFamily="18" charset="0"/>
          <a:ea typeface="Arial"/>
          <a:cs typeface="Times New Roman" panose="02020603050405020304" pitchFamily="18" charset="0"/>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Times New Roman" panose="02020603050405020304" pitchFamily="18" charset="0"/>
          <a:ea typeface="Arial"/>
          <a:cs typeface="Times New Roman" panose="02020603050405020304" pitchFamily="18" charset="0"/>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Times New Roman" pitchFamily="18" charset="0"/>
          <a:ea typeface="Times New Roman" pitchFamily="18" charset="0"/>
          <a:cs typeface="Times New Roman" pitchFamily="18" charset="0"/>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hape 111">
            <a:extLst>
              <a:ext uri="{FF2B5EF4-FFF2-40B4-BE49-F238E27FC236}">
                <a16:creationId xmlns:a16="http://schemas.microsoft.com/office/drawing/2014/main" id="{017F885E-A753-4CC1-860B-7137DDFD1DEE}"/>
              </a:ext>
            </a:extLst>
          </p:cNvPr>
          <p:cNvSpPr txBox="1">
            <a:spLocks noGrp="1"/>
          </p:cNvSpPr>
          <p:nvPr>
            <p:ph type="ctrTitle"/>
          </p:nvPr>
        </p:nvSpPr>
        <p:spPr>
          <a:xfrm>
            <a:off x="134938" y="822325"/>
            <a:ext cx="8990012" cy="1657350"/>
          </a:xfrm>
        </p:spPr>
        <p:txBody>
          <a:bodyPr/>
          <a:lstStyle/>
          <a:p>
            <a:pPr algn="ctr">
              <a:lnSpc>
                <a:spcPct val="115000"/>
              </a:lnSpc>
              <a:spcAft>
                <a:spcPts val="1000"/>
              </a:spcAft>
            </a:pPr>
            <a:r>
              <a:rPr lang="en-US" sz="2400" b="1" dirty="0"/>
              <a:t>A MACHINE LEARNING APPROACH FOR EARLY DETECTION OF DIABETES</a:t>
            </a:r>
            <a:endParaRPr lang="en-IN" sz="24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2" name="Shape 112">
            <a:extLst>
              <a:ext uri="{FF2B5EF4-FFF2-40B4-BE49-F238E27FC236}">
                <a16:creationId xmlns:a16="http://schemas.microsoft.com/office/drawing/2014/main" id="{34DD0BCC-234F-4C61-A3EC-777ED01D9A8E}"/>
              </a:ext>
            </a:extLst>
          </p:cNvPr>
          <p:cNvSpPr txBox="1">
            <a:spLocks noGrp="1"/>
          </p:cNvSpPr>
          <p:nvPr>
            <p:ph type="subTitle" idx="1"/>
          </p:nvPr>
        </p:nvSpPr>
        <p:spPr>
          <a:xfrm>
            <a:off x="311150" y="2492375"/>
            <a:ext cx="8582025" cy="3384550"/>
          </a:xfrm>
        </p:spPr>
        <p:txBody>
          <a:bodyPr>
            <a:noAutofit/>
          </a:bodyPr>
          <a:lstStyle/>
          <a:p>
            <a:pPr marL="457200" indent="-368300" eaLnBrk="1" fontAlgn="auto" hangingPunct="1">
              <a:spcBef>
                <a:spcPct val="0"/>
              </a:spcBef>
              <a:buClrTx/>
              <a:buFont typeface="Archivo Narrow"/>
              <a:buNone/>
              <a:tabLst>
                <a:tab pos="450850" algn="l"/>
              </a:tabLst>
              <a:defRPr/>
            </a:pPr>
            <a:endParaRPr lang="en-US" sz="1600" b="1" i="1" dirty="0">
              <a:ea typeface="DejaVu Sans" charset="0"/>
              <a:sym typeface="Archivo Narrow"/>
            </a:endParaRPr>
          </a:p>
          <a:p>
            <a:pPr marL="457200" indent="-368300" eaLnBrk="1" fontAlgn="auto" hangingPunct="1">
              <a:spcBef>
                <a:spcPct val="0"/>
              </a:spcBef>
              <a:buClrTx/>
              <a:buFont typeface="Archivo Narrow"/>
              <a:buNone/>
              <a:tabLst>
                <a:tab pos="450850" algn="l"/>
              </a:tabLst>
              <a:defRPr/>
            </a:pPr>
            <a:endParaRPr lang="en-US" sz="1600" b="1" i="1" dirty="0">
              <a:ea typeface="DejaVu Sans" charset="0"/>
              <a:sym typeface="Archivo Narrow"/>
            </a:endParaRPr>
          </a:p>
          <a:p>
            <a:pPr marL="457200" indent="-368300" eaLnBrk="1" fontAlgn="auto" hangingPunct="1">
              <a:spcBef>
                <a:spcPct val="0"/>
              </a:spcBef>
              <a:buClrTx/>
              <a:buFont typeface="Archivo Narrow"/>
              <a:buNone/>
              <a:tabLst>
                <a:tab pos="450850" algn="l"/>
              </a:tabLst>
              <a:defRPr/>
            </a:pPr>
            <a:r>
              <a:rPr lang="en-US" sz="1600" b="1" i="1" dirty="0">
                <a:ea typeface="DejaVu Sans" charset="0"/>
                <a:sym typeface="Archivo Narrow"/>
              </a:rPr>
              <a:t> Project Proposal Presentation </a:t>
            </a:r>
          </a:p>
          <a:p>
            <a:pPr marL="457200" indent="-368300" eaLnBrk="1" fontAlgn="auto" hangingPunct="1">
              <a:spcBef>
                <a:spcPct val="0"/>
              </a:spcBef>
              <a:buClrTx/>
              <a:buFont typeface="Archivo Narrow"/>
              <a:buNone/>
              <a:tabLst>
                <a:tab pos="450850" algn="l"/>
              </a:tabLst>
              <a:defRPr/>
            </a:pPr>
            <a:r>
              <a:rPr lang="en-US" sz="1200" i="1" dirty="0">
                <a:ea typeface="DejaVu Sans" charset="0"/>
                <a:sym typeface="Archivo Narrow"/>
              </a:rPr>
              <a:t>by</a:t>
            </a:r>
            <a:endParaRPr lang="en-US" sz="1200" dirty="0">
              <a:ea typeface="Archivo Narrow"/>
              <a:sym typeface="Archivo Narrow"/>
            </a:endParaRPr>
          </a:p>
          <a:p>
            <a:pPr marL="457200" indent="-368300" eaLnBrk="1" fontAlgn="auto" hangingPunct="1">
              <a:spcBef>
                <a:spcPct val="0"/>
              </a:spcBef>
              <a:buClrTx/>
              <a:tabLst>
                <a:tab pos="450850" algn="l"/>
              </a:tabLst>
              <a:defRPr/>
            </a:pPr>
            <a:r>
              <a:rPr lang="en-IN" sz="1600" b="1" dirty="0">
                <a:effectLst/>
                <a:latin typeface="Times New Roman" panose="02020603050405020304" pitchFamily="18" charset="0"/>
                <a:ea typeface="Calibri" panose="020F0502020204030204" pitchFamily="34" charset="0"/>
              </a:rPr>
              <a:t>Ismail Basheer(2348521)</a:t>
            </a:r>
          </a:p>
          <a:p>
            <a:pPr marL="457200" indent="-368300" eaLnBrk="1" fontAlgn="auto" hangingPunct="1">
              <a:spcBef>
                <a:spcPct val="0"/>
              </a:spcBef>
              <a:buClrTx/>
              <a:tabLst>
                <a:tab pos="450850" algn="l"/>
              </a:tabLst>
              <a:defRPr/>
            </a:pPr>
            <a:endParaRPr lang="en-IN" sz="1600" b="1" dirty="0">
              <a:effectLst/>
              <a:latin typeface="Times New Roman" panose="02020603050405020304" pitchFamily="18" charset="0"/>
              <a:ea typeface="Calibri" panose="020F0502020204030204" pitchFamily="34" charset="0"/>
            </a:endParaRPr>
          </a:p>
          <a:p>
            <a:pPr marL="457200" indent="-368300" eaLnBrk="1" fontAlgn="auto" hangingPunct="1">
              <a:spcBef>
                <a:spcPct val="0"/>
              </a:spcBef>
              <a:buClrTx/>
              <a:tabLst>
                <a:tab pos="450850" algn="l"/>
              </a:tabLst>
              <a:defRPr/>
            </a:pPr>
            <a:r>
              <a:rPr lang="en-US" sz="1800" dirty="0">
                <a:ea typeface="DejaVu Sans" charset="0"/>
                <a:sym typeface="Archivo Narrow"/>
              </a:rPr>
              <a:t>Project  Guide </a:t>
            </a:r>
          </a:p>
          <a:p>
            <a:pPr algn="ctr">
              <a:lnSpc>
                <a:spcPct val="115000"/>
              </a:lnSpc>
              <a:spcAft>
                <a:spcPts val="1000"/>
              </a:spcAft>
            </a:pPr>
            <a:r>
              <a:rPr lang="en-IN" sz="16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Dr.</a:t>
            </a:r>
            <a:r>
              <a:rPr lang="en-IN"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Vaidhehi</a:t>
            </a:r>
            <a:r>
              <a:rPr lang="en-IN"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V</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368300" eaLnBrk="1" fontAlgn="auto" hangingPunct="1">
              <a:buClrTx/>
              <a:buFont typeface="Archivo Narrow"/>
              <a:buNone/>
              <a:defRPr/>
            </a:pPr>
            <a:endParaRPr lang="en-US" sz="2400" b="1" dirty="0">
              <a:ea typeface="Archivo Narrow"/>
              <a:sym typeface="Archivo Narrow"/>
            </a:endParaRPr>
          </a:p>
          <a:p>
            <a:pPr marL="0" indent="0" eaLnBrk="1" fontAlgn="auto" hangingPunct="1">
              <a:spcBef>
                <a:spcPct val="0"/>
              </a:spcBef>
              <a:buSzTx/>
              <a:buFont typeface="Archivo Narrow"/>
              <a:buNone/>
              <a:defRPr/>
            </a:pPr>
            <a:r>
              <a:rPr lang="en-GB" sz="1800" dirty="0">
                <a:solidFill>
                  <a:schemeClr val="tx1"/>
                </a:solidFill>
                <a:ea typeface="Archivo Narrow"/>
                <a:sym typeface="Georgia" panose="02040502050405020303" pitchFamily="18" charset="0"/>
              </a:rPr>
              <a:t>Department of Computer Science</a:t>
            </a:r>
          </a:p>
          <a:p>
            <a:pPr marL="457200" indent="-368300" eaLnBrk="1" fontAlgn="auto" hangingPunct="1">
              <a:lnSpc>
                <a:spcPct val="80000"/>
              </a:lnSpc>
              <a:buFont typeface="Archivo Narrow"/>
              <a:buNone/>
              <a:defRPr/>
            </a:pPr>
            <a:r>
              <a:rPr lang="en-US" sz="1800" dirty="0">
                <a:solidFill>
                  <a:schemeClr val="tx1"/>
                </a:solidFill>
                <a:ea typeface="Archivo Narrow"/>
                <a:sym typeface="Archivo Narrow"/>
              </a:rPr>
              <a:t>CHRIST(Deemed to be University), Bengaluru-29</a:t>
            </a:r>
          </a:p>
          <a:p>
            <a:pPr marL="457200" indent="-368300" eaLnBrk="1" fontAlgn="auto" hangingPunct="1">
              <a:buClrTx/>
              <a:buFont typeface="Archivo Narrow"/>
              <a:buNone/>
              <a:defRPr/>
            </a:pPr>
            <a:endParaRPr lang="en-IN" sz="1800" dirty="0">
              <a:ea typeface="Archivo Narrow"/>
              <a:sym typeface="Archivo Narrow"/>
            </a:endParaRPr>
          </a:p>
          <a:p>
            <a:pPr marL="0" indent="0" eaLnBrk="1" fontAlgn="auto" hangingPunct="1">
              <a:buFont typeface="Archivo Narrow"/>
              <a:buNone/>
              <a:defRPr/>
            </a:pPr>
            <a:endParaRPr dirty="0">
              <a:latin typeface="Archivo Narrow"/>
              <a:ea typeface="Archivo Narrow"/>
              <a:cs typeface="Archivo Narrow"/>
              <a:sym typeface="Archivo Narrow"/>
            </a:endParaRPr>
          </a:p>
        </p:txBody>
      </p:sp>
    </p:spTree>
    <p:extLst>
      <p:ext uri="{BB962C8B-B14F-4D97-AF65-F5344CB8AC3E}">
        <p14:creationId xmlns:p14="http://schemas.microsoft.com/office/powerpoint/2010/main" val="3076247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71E0879D-7E21-4A23-9A8B-B479DC80AC32}"/>
              </a:ext>
            </a:extLst>
          </p:cNvPr>
          <p:cNvSpPr txBox="1">
            <a:spLocks noGrp="1"/>
          </p:cNvSpPr>
          <p:nvPr>
            <p:ph type="title"/>
          </p:nvPr>
        </p:nvSpPr>
        <p:spPr>
          <a:xfrm>
            <a:off x="311150" y="593725"/>
            <a:ext cx="8521700" cy="763588"/>
          </a:xfrm>
        </p:spPr>
        <p:txBody>
          <a:bodyPr/>
          <a:lstStyle/>
          <a:p>
            <a:pPr algn="ctr" eaLnBrk="1" hangingPunct="1">
              <a:spcBef>
                <a:spcPct val="0"/>
              </a:spcBef>
              <a:spcAft>
                <a:spcPct val="0"/>
              </a:spcAft>
            </a:pPr>
            <a:r>
              <a:rPr lang="en-US" altLang="en-US" sz="2800" dirty="0">
                <a:latin typeface="Times New Roman"/>
                <a:cs typeface="Times New Roman"/>
                <a:sym typeface="Times New Roman"/>
              </a:rPr>
              <a:t> </a:t>
            </a:r>
            <a:r>
              <a:rPr lang="en-US" altLang="en-US" sz="2800" b="1" dirty="0">
                <a:latin typeface="Times New Roman"/>
                <a:cs typeface="Times New Roman"/>
                <a:sym typeface="Times New Roman"/>
              </a:rPr>
              <a:t>Introduction</a:t>
            </a:r>
            <a:endParaRPr lang="en-IN" altLang="en-US" sz="2800" b="1" dirty="0">
              <a:cs typeface="Archivo Narrow" charset="0"/>
              <a:sym typeface="Archivo Narrow" charset="0"/>
            </a:endParaRPr>
          </a:p>
        </p:txBody>
      </p:sp>
      <p:sp>
        <p:nvSpPr>
          <p:cNvPr id="43011" name="Text Placeholder 2">
            <a:extLst>
              <a:ext uri="{FF2B5EF4-FFF2-40B4-BE49-F238E27FC236}">
                <a16:creationId xmlns:a16="http://schemas.microsoft.com/office/drawing/2014/main" id="{3AD6D7C1-B9E5-44A7-B0FF-E89714B35297}"/>
              </a:ext>
            </a:extLst>
          </p:cNvPr>
          <p:cNvSpPr txBox="1">
            <a:spLocks noGrp="1"/>
          </p:cNvSpPr>
          <p:nvPr>
            <p:ph type="body" idx="1"/>
          </p:nvPr>
        </p:nvSpPr>
        <p:spPr>
          <a:xfrm>
            <a:off x="311150" y="1536700"/>
            <a:ext cx="8521700" cy="4554538"/>
          </a:xfrm>
        </p:spPr>
        <p:txBody>
          <a:bodyPr/>
          <a:lstStyle/>
          <a:p>
            <a:pPr algn="just" eaLnBrk="1" hangingPunct="1">
              <a:spcBef>
                <a:spcPct val="0"/>
              </a:spcBef>
              <a:spcAft>
                <a:spcPct val="0"/>
              </a:spcAft>
              <a:buFont typeface="Arial" panose="020B0604020202020204" pitchFamily="34" charset="0"/>
              <a:buChar char="•"/>
            </a:pPr>
            <a:r>
              <a:rPr lang="en-US" altLang="en-US" sz="2200" dirty="0">
                <a:cs typeface="Archivo Narrow" charset="0"/>
                <a:sym typeface="Archivo Narrow" charset="0"/>
              </a:rPr>
              <a:t>Our project focuses on leveraging advanced predictive modeling and machine learning techniques for early diabetes detection. By integrating diverse health parameters like genetic markers, lifestyle data, medical history, and physiological measurements</a:t>
            </a:r>
          </a:p>
          <a:p>
            <a:pPr algn="just" eaLnBrk="1" hangingPunct="1">
              <a:spcBef>
                <a:spcPct val="0"/>
              </a:spcBef>
              <a:spcAft>
                <a:spcPct val="0"/>
              </a:spcAft>
              <a:buFont typeface="Arial" panose="020B0604020202020204" pitchFamily="34" charset="0"/>
              <a:buChar char="•"/>
            </a:pPr>
            <a:endParaRPr lang="en-US" altLang="en-US" sz="2200" dirty="0">
              <a:cs typeface="Archivo Narrow" charset="0"/>
              <a:sym typeface="Archivo Narrow" charset="0"/>
            </a:endParaRPr>
          </a:p>
          <a:p>
            <a:pPr algn="just" eaLnBrk="1" hangingPunct="1">
              <a:spcBef>
                <a:spcPct val="0"/>
              </a:spcBef>
              <a:spcAft>
                <a:spcPct val="0"/>
              </a:spcAft>
              <a:buFont typeface="Arial" panose="020B0604020202020204" pitchFamily="34" charset="0"/>
              <a:buChar char="•"/>
            </a:pPr>
            <a:r>
              <a:rPr lang="en-US" altLang="en-US" sz="2200" dirty="0">
                <a:cs typeface="Archivo Narrow" charset="0"/>
                <a:sym typeface="Archivo Narrow" charset="0"/>
              </a:rPr>
              <a:t>We aim to create a sophisticated predictive model. This pioneering approach utilizes cutting-edge machine learning algorithms to uncover subtle patterns in vast datasets, potentially predicting diabetes onset before clinical symptoms appear. Early identification enables timely interventions and personalized healthcare strategies, holding promise for improving patient outcomes and reducing the burden on healthcare systems globally.</a:t>
            </a:r>
            <a:endParaRPr lang="en-IN" altLang="en-US" sz="2200" dirty="0">
              <a:cs typeface="Archivo Narrow" charset="0"/>
              <a:sym typeface="Archivo Narrow" charset="0"/>
            </a:endParaRPr>
          </a:p>
        </p:txBody>
      </p:sp>
      <p:sp>
        <p:nvSpPr>
          <p:cNvPr id="2" name="Slide Number Placeholder 1">
            <a:extLst>
              <a:ext uri="{FF2B5EF4-FFF2-40B4-BE49-F238E27FC236}">
                <a16:creationId xmlns:a16="http://schemas.microsoft.com/office/drawing/2014/main" id="{E5AF1940-A243-4526-83EE-AF8D3FC0AFB8}"/>
              </a:ext>
            </a:extLst>
          </p:cNvPr>
          <p:cNvSpPr>
            <a:spLocks noGrp="1"/>
          </p:cNvSpPr>
          <p:nvPr>
            <p:ph type="sldNum" idx="10"/>
          </p:nvPr>
        </p:nvSpPr>
        <p:spPr/>
        <p:txBody>
          <a:bodyPr/>
          <a:lstStyle/>
          <a:p>
            <a:pPr>
              <a:defRPr/>
            </a:pPr>
            <a:fld id="{9D2B33C2-A734-4AB5-AC6D-A69A02FE3E9B}" type="slidenum">
              <a:rPr lang="en-GB" altLang="en-US" sz="1600" smtClean="0">
                <a:solidFill>
                  <a:schemeClr val="bg1"/>
                </a:solidFill>
                <a:latin typeface="Times New Roman" panose="02020603050405020304" pitchFamily="18" charset="0"/>
                <a:cs typeface="Times New Roman" panose="02020603050405020304" pitchFamily="18" charset="0"/>
              </a:rPr>
              <a:pPr>
                <a:defRPr/>
              </a:pPr>
              <a:t>2</a:t>
            </a:fld>
            <a:endParaRPr lang="en-US" altLang="en-US" sz="160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71E0879D-7E21-4A23-9A8B-B479DC80AC32}"/>
              </a:ext>
            </a:extLst>
          </p:cNvPr>
          <p:cNvSpPr txBox="1">
            <a:spLocks noGrp="1"/>
          </p:cNvSpPr>
          <p:nvPr>
            <p:ph type="title"/>
          </p:nvPr>
        </p:nvSpPr>
        <p:spPr>
          <a:xfrm>
            <a:off x="311150" y="593725"/>
            <a:ext cx="8521700" cy="763588"/>
          </a:xfrm>
        </p:spPr>
        <p:txBody>
          <a:bodyPr/>
          <a:lstStyle/>
          <a:p>
            <a:pPr algn="ctr" eaLnBrk="1" hangingPunct="1">
              <a:spcBef>
                <a:spcPct val="0"/>
              </a:spcBef>
              <a:spcAft>
                <a:spcPct val="0"/>
              </a:spcAft>
            </a:pPr>
            <a:r>
              <a:rPr lang="en-US" altLang="en-US" sz="2800" dirty="0">
                <a:latin typeface="Times New Roman"/>
                <a:cs typeface="Times New Roman"/>
                <a:sym typeface="Times New Roman"/>
              </a:rPr>
              <a:t> </a:t>
            </a:r>
            <a:r>
              <a:rPr lang="en-US" altLang="en-US" sz="2800" b="1" dirty="0">
                <a:latin typeface="Times New Roman"/>
                <a:cs typeface="Times New Roman"/>
                <a:sym typeface="Times New Roman"/>
              </a:rPr>
              <a:t>Implementation</a:t>
            </a:r>
            <a:endParaRPr lang="en-IN" altLang="en-US" sz="2800" b="1" dirty="0">
              <a:cs typeface="Archivo Narrow" charset="0"/>
              <a:sym typeface="Archivo Narrow" charset="0"/>
            </a:endParaRPr>
          </a:p>
        </p:txBody>
      </p:sp>
      <p:sp>
        <p:nvSpPr>
          <p:cNvPr id="43011" name="Text Placeholder 2">
            <a:extLst>
              <a:ext uri="{FF2B5EF4-FFF2-40B4-BE49-F238E27FC236}">
                <a16:creationId xmlns:a16="http://schemas.microsoft.com/office/drawing/2014/main" id="{3AD6D7C1-B9E5-44A7-B0FF-E89714B35297}"/>
              </a:ext>
            </a:extLst>
          </p:cNvPr>
          <p:cNvSpPr txBox="1">
            <a:spLocks noGrp="1"/>
          </p:cNvSpPr>
          <p:nvPr>
            <p:ph type="body" idx="1"/>
          </p:nvPr>
        </p:nvSpPr>
        <p:spPr>
          <a:xfrm>
            <a:off x="311150" y="1536700"/>
            <a:ext cx="8521700" cy="4554538"/>
          </a:xfrm>
        </p:spPr>
        <p:txBody>
          <a:bodyPr/>
          <a:lstStyle/>
          <a:p>
            <a:pPr marL="88900" indent="0" algn="just" eaLnBrk="1" hangingPunct="1">
              <a:spcBef>
                <a:spcPct val="0"/>
              </a:spcBef>
              <a:spcAft>
                <a:spcPct val="0"/>
              </a:spcAft>
              <a:buNone/>
            </a:pPr>
            <a:r>
              <a:rPr lang="en-US" altLang="en-US" sz="2000" b="1" dirty="0">
                <a:cs typeface="Archivo Narrow" charset="0"/>
                <a:sym typeface="Archivo Narrow" charset="0"/>
              </a:rPr>
              <a:t>DATASET:</a:t>
            </a:r>
          </a:p>
          <a:p>
            <a:pPr marL="88900" indent="0" algn="just" eaLnBrk="1" hangingPunct="1">
              <a:spcBef>
                <a:spcPct val="0"/>
              </a:spcBef>
              <a:spcAft>
                <a:spcPct val="0"/>
              </a:spcAft>
              <a:buNone/>
            </a:pPr>
            <a:endParaRPr lang="en-US" altLang="en-US" sz="2000" b="1" dirty="0">
              <a:cs typeface="Archivo Narrow" charset="0"/>
              <a:sym typeface="Archivo Narrow" charset="0"/>
            </a:endParaRPr>
          </a:p>
          <a:p>
            <a:pPr algn="just" eaLnBrk="1" hangingPunct="1">
              <a:spcBef>
                <a:spcPct val="0"/>
              </a:spcBef>
              <a:spcAft>
                <a:spcPct val="0"/>
              </a:spcAft>
              <a:buFont typeface="Arial" panose="020B0604020202020204" pitchFamily="34" charset="0"/>
              <a:buChar char="•"/>
            </a:pPr>
            <a:r>
              <a:rPr lang="en-US" sz="2400" b="0" i="0" dirty="0">
                <a:solidFill>
                  <a:schemeClr val="tx1"/>
                </a:solidFill>
                <a:effectLst/>
              </a:rPr>
              <a:t>This dataset is originally from the National Institute of Diabetes and Digestive and Kidney Diseases.</a:t>
            </a:r>
          </a:p>
          <a:p>
            <a:pPr algn="just" eaLnBrk="1" hangingPunct="1">
              <a:spcBef>
                <a:spcPct val="0"/>
              </a:spcBef>
              <a:spcAft>
                <a:spcPct val="0"/>
              </a:spcAft>
              <a:buFont typeface="Arial" panose="020B0604020202020204" pitchFamily="34" charset="0"/>
              <a:buChar char="•"/>
            </a:pPr>
            <a:r>
              <a:rPr lang="en-US" sz="2400" b="0" i="0" dirty="0">
                <a:solidFill>
                  <a:schemeClr val="tx1"/>
                </a:solidFill>
                <a:effectLst/>
              </a:rPr>
              <a:t> The objective of the dataset is to diagnostically predict whether or not a patient has diabetes, based on certain diagnostic measurements included in the dataset. </a:t>
            </a:r>
          </a:p>
          <a:p>
            <a:pPr algn="just" eaLnBrk="1" hangingPunct="1">
              <a:spcBef>
                <a:spcPct val="0"/>
              </a:spcBef>
              <a:spcAft>
                <a:spcPct val="0"/>
              </a:spcAft>
              <a:buFont typeface="Arial" panose="020B0604020202020204" pitchFamily="34" charset="0"/>
              <a:buChar char="•"/>
            </a:pPr>
            <a:r>
              <a:rPr lang="en-US" sz="2400" b="0" i="0" dirty="0">
                <a:solidFill>
                  <a:schemeClr val="tx1"/>
                </a:solidFill>
                <a:effectLst/>
              </a:rPr>
              <a:t>Several constraints were placed on the selection of these instances from a larger database. In particular, all patients here are females at least 21 years old of Pima Indian heritage.</a:t>
            </a:r>
            <a:endParaRPr lang="en-US" altLang="en-US" sz="2400" b="1" dirty="0">
              <a:solidFill>
                <a:schemeClr val="tx1"/>
              </a:solidFill>
              <a:sym typeface="Archivo Narrow" charset="0"/>
            </a:endParaRPr>
          </a:p>
          <a:p>
            <a:pPr marL="88900" indent="0" algn="just" eaLnBrk="1" hangingPunct="1">
              <a:spcBef>
                <a:spcPct val="0"/>
              </a:spcBef>
              <a:spcAft>
                <a:spcPct val="0"/>
              </a:spcAft>
              <a:buNone/>
            </a:pPr>
            <a:endParaRPr lang="en-IN" altLang="en-US" sz="2200" b="1" dirty="0">
              <a:cs typeface="Archivo Narrow" charset="0"/>
              <a:sym typeface="Archivo Narrow" charset="0"/>
            </a:endParaRPr>
          </a:p>
        </p:txBody>
      </p:sp>
      <p:sp>
        <p:nvSpPr>
          <p:cNvPr id="2" name="Slide Number Placeholder 1">
            <a:extLst>
              <a:ext uri="{FF2B5EF4-FFF2-40B4-BE49-F238E27FC236}">
                <a16:creationId xmlns:a16="http://schemas.microsoft.com/office/drawing/2014/main" id="{E5AF1940-A243-4526-83EE-AF8D3FC0AFB8}"/>
              </a:ext>
            </a:extLst>
          </p:cNvPr>
          <p:cNvSpPr>
            <a:spLocks noGrp="1"/>
          </p:cNvSpPr>
          <p:nvPr>
            <p:ph type="sldNum" idx="10"/>
          </p:nvPr>
        </p:nvSpPr>
        <p:spPr/>
        <p:txBody>
          <a:bodyPr/>
          <a:lstStyle/>
          <a:p>
            <a:pPr>
              <a:defRPr/>
            </a:pPr>
            <a:fld id="{9D2B33C2-A734-4AB5-AC6D-A69A02FE3E9B}" type="slidenum">
              <a:rPr lang="en-GB" altLang="en-US" sz="1600" smtClean="0">
                <a:solidFill>
                  <a:schemeClr val="bg1"/>
                </a:solidFill>
                <a:latin typeface="Times New Roman" panose="02020603050405020304" pitchFamily="18" charset="0"/>
                <a:cs typeface="Times New Roman" panose="02020603050405020304" pitchFamily="18" charset="0"/>
              </a:rPr>
              <a:pPr>
                <a:defRPr/>
              </a:pPr>
              <a:t>3</a:t>
            </a:fld>
            <a:endParaRPr lang="en-US" altLang="en-US" sz="160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5502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71E0879D-7E21-4A23-9A8B-B479DC80AC32}"/>
              </a:ext>
            </a:extLst>
          </p:cNvPr>
          <p:cNvSpPr txBox="1">
            <a:spLocks noGrp="1"/>
          </p:cNvSpPr>
          <p:nvPr>
            <p:ph type="title"/>
          </p:nvPr>
        </p:nvSpPr>
        <p:spPr>
          <a:xfrm>
            <a:off x="311150" y="593725"/>
            <a:ext cx="8521700" cy="763588"/>
          </a:xfrm>
        </p:spPr>
        <p:txBody>
          <a:bodyPr/>
          <a:lstStyle/>
          <a:p>
            <a:pPr algn="ctr" eaLnBrk="1" hangingPunct="1">
              <a:spcBef>
                <a:spcPct val="0"/>
              </a:spcBef>
              <a:spcAft>
                <a:spcPct val="0"/>
              </a:spcAft>
            </a:pPr>
            <a:r>
              <a:rPr lang="en-US" altLang="en-US" sz="2800" dirty="0">
                <a:latin typeface="Times New Roman"/>
                <a:cs typeface="Times New Roman"/>
                <a:sym typeface="Times New Roman"/>
              </a:rPr>
              <a:t> </a:t>
            </a:r>
            <a:r>
              <a:rPr lang="en-US" altLang="en-US" sz="2800" b="1" dirty="0">
                <a:latin typeface="Times New Roman"/>
                <a:cs typeface="Times New Roman"/>
                <a:sym typeface="Times New Roman"/>
              </a:rPr>
              <a:t>Implementation</a:t>
            </a:r>
            <a:endParaRPr lang="en-IN" altLang="en-US" sz="2800" b="1" dirty="0">
              <a:cs typeface="Archivo Narrow" charset="0"/>
              <a:sym typeface="Archivo Narrow" charset="0"/>
            </a:endParaRPr>
          </a:p>
        </p:txBody>
      </p:sp>
      <p:sp>
        <p:nvSpPr>
          <p:cNvPr id="43011" name="Text Placeholder 2">
            <a:extLst>
              <a:ext uri="{FF2B5EF4-FFF2-40B4-BE49-F238E27FC236}">
                <a16:creationId xmlns:a16="http://schemas.microsoft.com/office/drawing/2014/main" id="{3AD6D7C1-B9E5-44A7-B0FF-E89714B35297}"/>
              </a:ext>
            </a:extLst>
          </p:cNvPr>
          <p:cNvSpPr txBox="1">
            <a:spLocks noGrp="1"/>
          </p:cNvSpPr>
          <p:nvPr>
            <p:ph type="body" idx="1"/>
          </p:nvPr>
        </p:nvSpPr>
        <p:spPr>
          <a:xfrm>
            <a:off x="311150" y="1536700"/>
            <a:ext cx="8521700" cy="4554538"/>
          </a:xfrm>
        </p:spPr>
        <p:txBody>
          <a:bodyPr/>
          <a:lstStyle/>
          <a:p>
            <a:pPr marL="88900" indent="0" algn="just" eaLnBrk="1" hangingPunct="1">
              <a:spcBef>
                <a:spcPct val="0"/>
              </a:spcBef>
              <a:spcAft>
                <a:spcPct val="0"/>
              </a:spcAft>
              <a:buNone/>
            </a:pPr>
            <a:r>
              <a:rPr lang="en-US" altLang="en-US" sz="2000" b="1" dirty="0">
                <a:cs typeface="Archivo Narrow" charset="0"/>
                <a:sym typeface="Archivo Narrow" charset="0"/>
              </a:rPr>
              <a:t>Content:</a:t>
            </a:r>
          </a:p>
          <a:p>
            <a:pPr marL="88900" indent="0" algn="just" eaLnBrk="1" hangingPunct="1">
              <a:spcBef>
                <a:spcPct val="0"/>
              </a:spcBef>
              <a:spcAft>
                <a:spcPct val="0"/>
              </a:spcAft>
              <a:buNone/>
            </a:pPr>
            <a:endParaRPr lang="en-US" altLang="en-US" sz="2000" b="1" dirty="0">
              <a:cs typeface="Archivo Narrow" charset="0"/>
              <a:sym typeface="Archivo Narrow" charset="0"/>
            </a:endParaRPr>
          </a:p>
          <a:p>
            <a:pPr algn="just" eaLnBrk="1" hangingPunct="1">
              <a:spcBef>
                <a:spcPct val="0"/>
              </a:spcBef>
              <a:spcAft>
                <a:spcPct val="0"/>
              </a:spcAft>
              <a:buFont typeface="Arial" panose="020B0604020202020204" pitchFamily="34" charset="0"/>
              <a:buChar char="•"/>
            </a:pPr>
            <a:r>
              <a:rPr lang="en-US" altLang="en-US" sz="2000" dirty="0">
                <a:cs typeface="Archivo Narrow" charset="0"/>
                <a:sym typeface="Archivo Narrow" charset="0"/>
              </a:rPr>
              <a:t>The datasets consists of several medical predictor variables and one target variable, Outcome . </a:t>
            </a:r>
          </a:p>
          <a:p>
            <a:pPr algn="just" eaLnBrk="1" hangingPunct="1">
              <a:spcBef>
                <a:spcPct val="0"/>
              </a:spcBef>
              <a:spcAft>
                <a:spcPct val="0"/>
              </a:spcAft>
              <a:buFont typeface="Arial" panose="020B0604020202020204" pitchFamily="34" charset="0"/>
              <a:buChar char="•"/>
            </a:pPr>
            <a:endParaRPr lang="en-US" altLang="en-US" sz="2000" dirty="0">
              <a:cs typeface="Archivo Narrow" charset="0"/>
              <a:sym typeface="Archivo Narrow" charset="0"/>
            </a:endParaRPr>
          </a:p>
          <a:p>
            <a:pPr algn="just" eaLnBrk="1" hangingPunct="1">
              <a:spcBef>
                <a:spcPct val="0"/>
              </a:spcBef>
              <a:spcAft>
                <a:spcPct val="0"/>
              </a:spcAft>
              <a:buFont typeface="Arial" panose="020B0604020202020204" pitchFamily="34" charset="0"/>
              <a:buChar char="•"/>
            </a:pPr>
            <a:r>
              <a:rPr lang="en-US" altLang="en-US" sz="2000" dirty="0">
                <a:cs typeface="Archivo Narrow" charset="0"/>
                <a:sym typeface="Archivo Narrow" charset="0"/>
              </a:rPr>
              <a:t>Predictor variables includes the number of pregnancies the patient has had, their BMI, insulin level, age, and so on.</a:t>
            </a:r>
          </a:p>
        </p:txBody>
      </p:sp>
      <p:sp>
        <p:nvSpPr>
          <p:cNvPr id="2" name="Slide Number Placeholder 1">
            <a:extLst>
              <a:ext uri="{FF2B5EF4-FFF2-40B4-BE49-F238E27FC236}">
                <a16:creationId xmlns:a16="http://schemas.microsoft.com/office/drawing/2014/main" id="{E5AF1940-A243-4526-83EE-AF8D3FC0AFB8}"/>
              </a:ext>
            </a:extLst>
          </p:cNvPr>
          <p:cNvSpPr>
            <a:spLocks noGrp="1"/>
          </p:cNvSpPr>
          <p:nvPr>
            <p:ph type="sldNum" idx="10"/>
          </p:nvPr>
        </p:nvSpPr>
        <p:spPr/>
        <p:txBody>
          <a:bodyPr/>
          <a:lstStyle/>
          <a:p>
            <a:pPr>
              <a:defRPr/>
            </a:pPr>
            <a:fld id="{9D2B33C2-A734-4AB5-AC6D-A69A02FE3E9B}" type="slidenum">
              <a:rPr lang="en-GB" altLang="en-US" sz="1600" smtClean="0">
                <a:solidFill>
                  <a:schemeClr val="bg1"/>
                </a:solidFill>
                <a:latin typeface="Times New Roman" panose="02020603050405020304" pitchFamily="18" charset="0"/>
                <a:cs typeface="Times New Roman" panose="02020603050405020304" pitchFamily="18" charset="0"/>
              </a:rPr>
              <a:pPr>
                <a:defRPr/>
              </a:pPr>
              <a:t>4</a:t>
            </a:fld>
            <a:endParaRPr lang="en-US" altLang="en-US" sz="160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7452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BABF8-6038-BEF8-EDC9-9FF6BA68011A}"/>
              </a:ext>
            </a:extLst>
          </p:cNvPr>
          <p:cNvSpPr>
            <a:spLocks noGrp="1"/>
          </p:cNvSpPr>
          <p:nvPr>
            <p:ph type="title"/>
          </p:nvPr>
        </p:nvSpPr>
        <p:spPr/>
        <p:txBody>
          <a:bodyPr/>
          <a:lstStyle/>
          <a:p>
            <a:r>
              <a:rPr lang="en-US" sz="2000" b="1" dirty="0">
                <a:solidFill>
                  <a:schemeClr val="tx1"/>
                </a:solidFill>
              </a:rPr>
              <a:t> </a:t>
            </a:r>
            <a:endParaRPr lang="en-IN" sz="2000" b="1" dirty="0">
              <a:solidFill>
                <a:schemeClr val="tx1"/>
              </a:solidFill>
            </a:endParaRPr>
          </a:p>
        </p:txBody>
      </p:sp>
      <p:sp>
        <p:nvSpPr>
          <p:cNvPr id="3" name="Text Placeholder 2">
            <a:extLst>
              <a:ext uri="{FF2B5EF4-FFF2-40B4-BE49-F238E27FC236}">
                <a16:creationId xmlns:a16="http://schemas.microsoft.com/office/drawing/2014/main" id="{E8901A57-6BDA-ADFB-29E6-81486B24934D}"/>
              </a:ext>
            </a:extLst>
          </p:cNvPr>
          <p:cNvSpPr>
            <a:spLocks noGrp="1"/>
          </p:cNvSpPr>
          <p:nvPr>
            <p:ph type="body" idx="1"/>
          </p:nvPr>
        </p:nvSpPr>
        <p:spPr/>
        <p:txBody>
          <a:bodyPr/>
          <a:lstStyle/>
          <a:p>
            <a:pPr marL="88900" indent="0">
              <a:buNone/>
            </a:pPr>
            <a:r>
              <a:rPr lang="en-IN" sz="2000" b="1" i="0" dirty="0">
                <a:solidFill>
                  <a:schemeClr val="tx1"/>
                </a:solidFill>
                <a:effectLst/>
                <a:latin typeface="Roboto" panose="02000000000000000000" pitchFamily="2" charset="0"/>
              </a:rPr>
              <a:t>Descriptive Statistics</a:t>
            </a:r>
            <a:br>
              <a:rPr lang="en-IN" sz="1400" b="1" i="0" dirty="0">
                <a:solidFill>
                  <a:schemeClr val="tx1"/>
                </a:solidFill>
                <a:effectLst/>
                <a:latin typeface="Roboto" panose="02000000000000000000" pitchFamily="2" charset="0"/>
              </a:rPr>
            </a:br>
            <a:endParaRPr lang="en-IN" dirty="0"/>
          </a:p>
        </p:txBody>
      </p:sp>
      <p:sp>
        <p:nvSpPr>
          <p:cNvPr id="4" name="Slide Number Placeholder 3">
            <a:extLst>
              <a:ext uri="{FF2B5EF4-FFF2-40B4-BE49-F238E27FC236}">
                <a16:creationId xmlns:a16="http://schemas.microsoft.com/office/drawing/2014/main" id="{44017FC9-7967-4CC7-8373-6E16AC28486B}"/>
              </a:ext>
            </a:extLst>
          </p:cNvPr>
          <p:cNvSpPr>
            <a:spLocks noGrp="1"/>
          </p:cNvSpPr>
          <p:nvPr>
            <p:ph type="sldNum" idx="10"/>
          </p:nvPr>
        </p:nvSpPr>
        <p:spPr/>
        <p:txBody>
          <a:bodyPr/>
          <a:lstStyle/>
          <a:p>
            <a:pPr>
              <a:defRPr/>
            </a:pPr>
            <a:fld id="{9D2B33C2-A734-4AB5-AC6D-A69A02FE3E9B}" type="slidenum">
              <a:rPr lang="en-GB" altLang="en-US" smtClean="0"/>
              <a:pPr>
                <a:defRPr/>
              </a:pPr>
              <a:t>5</a:t>
            </a:fld>
            <a:endParaRPr lang="en-US" altLang="en-US"/>
          </a:p>
        </p:txBody>
      </p:sp>
      <p:pic>
        <p:nvPicPr>
          <p:cNvPr id="6" name="Picture 5">
            <a:extLst>
              <a:ext uri="{FF2B5EF4-FFF2-40B4-BE49-F238E27FC236}">
                <a16:creationId xmlns:a16="http://schemas.microsoft.com/office/drawing/2014/main" id="{4402B341-6685-A2F7-9E69-115E98F83F4C}"/>
              </a:ext>
            </a:extLst>
          </p:cNvPr>
          <p:cNvPicPr>
            <a:picLocks noChangeAspect="1"/>
          </p:cNvPicPr>
          <p:nvPr/>
        </p:nvPicPr>
        <p:blipFill>
          <a:blip r:embed="rId2"/>
          <a:stretch>
            <a:fillRect/>
          </a:stretch>
        </p:blipFill>
        <p:spPr>
          <a:xfrm>
            <a:off x="294678" y="2109349"/>
            <a:ext cx="8554644" cy="1924319"/>
          </a:xfrm>
          <a:prstGeom prst="rect">
            <a:avLst/>
          </a:prstGeom>
        </p:spPr>
      </p:pic>
      <p:pic>
        <p:nvPicPr>
          <p:cNvPr id="8" name="Picture 7">
            <a:extLst>
              <a:ext uri="{FF2B5EF4-FFF2-40B4-BE49-F238E27FC236}">
                <a16:creationId xmlns:a16="http://schemas.microsoft.com/office/drawing/2014/main" id="{2F0D143D-D4B7-D1F9-9AA5-932F9B353129}"/>
              </a:ext>
            </a:extLst>
          </p:cNvPr>
          <p:cNvPicPr>
            <a:picLocks noChangeAspect="1"/>
          </p:cNvPicPr>
          <p:nvPr/>
        </p:nvPicPr>
        <p:blipFill>
          <a:blip r:embed="rId3"/>
          <a:stretch>
            <a:fillRect/>
          </a:stretch>
        </p:blipFill>
        <p:spPr>
          <a:xfrm>
            <a:off x="311700" y="4316215"/>
            <a:ext cx="3315163" cy="809738"/>
          </a:xfrm>
          <a:prstGeom prst="rect">
            <a:avLst/>
          </a:prstGeom>
        </p:spPr>
      </p:pic>
      <p:sp>
        <p:nvSpPr>
          <p:cNvPr id="9" name="TextBox 8">
            <a:extLst>
              <a:ext uri="{FF2B5EF4-FFF2-40B4-BE49-F238E27FC236}">
                <a16:creationId xmlns:a16="http://schemas.microsoft.com/office/drawing/2014/main" id="{B10E2E34-D160-A63B-E154-3254E4B6C62C}"/>
              </a:ext>
            </a:extLst>
          </p:cNvPr>
          <p:cNvSpPr txBox="1"/>
          <p:nvPr/>
        </p:nvSpPr>
        <p:spPr>
          <a:xfrm>
            <a:off x="311700" y="5455004"/>
            <a:ext cx="5688632"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are 768 rows and 9 columns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509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AFD07A-7446-97C0-9937-1464A34D8B6C}"/>
              </a:ext>
            </a:extLst>
          </p:cNvPr>
          <p:cNvSpPr>
            <a:spLocks noGrp="1"/>
          </p:cNvSpPr>
          <p:nvPr>
            <p:ph type="sldNum" idx="10"/>
          </p:nvPr>
        </p:nvSpPr>
        <p:spPr/>
        <p:txBody>
          <a:bodyPr/>
          <a:lstStyle/>
          <a:p>
            <a:pPr>
              <a:defRPr/>
            </a:pPr>
            <a:fld id="{9D2B33C2-A734-4AB5-AC6D-A69A02FE3E9B}" type="slidenum">
              <a:rPr lang="en-GB" altLang="en-US" smtClean="0"/>
              <a:pPr>
                <a:defRPr/>
              </a:pPr>
              <a:t>6</a:t>
            </a:fld>
            <a:endParaRPr lang="en-US" altLang="en-US"/>
          </a:p>
        </p:txBody>
      </p:sp>
      <p:sp>
        <p:nvSpPr>
          <p:cNvPr id="6" name="TextBox 5">
            <a:extLst>
              <a:ext uri="{FF2B5EF4-FFF2-40B4-BE49-F238E27FC236}">
                <a16:creationId xmlns:a16="http://schemas.microsoft.com/office/drawing/2014/main" id="{D2C54A1F-0F22-8D17-310C-36C928E3845F}"/>
              </a:ext>
            </a:extLst>
          </p:cNvPr>
          <p:cNvSpPr txBox="1"/>
          <p:nvPr/>
        </p:nvSpPr>
        <p:spPr>
          <a:xfrm>
            <a:off x="323528" y="1484784"/>
            <a:ext cx="8292748" cy="4093428"/>
          </a:xfrm>
          <a:prstGeom prst="rect">
            <a:avLst/>
          </a:prstGeom>
          <a:noFill/>
        </p:spPr>
        <p:txBody>
          <a:bodyPr wrap="square">
            <a:spAutoFit/>
          </a:bodyPr>
          <a:lstStyle/>
          <a:p>
            <a:pPr marL="285750" indent="-285750">
              <a:buFont typeface="Arial" panose="020B0604020202020204" pitchFamily="34" charset="0"/>
              <a:buChar char="•"/>
            </a:pPr>
            <a:r>
              <a:rPr lang="en-IN" sz="2000" b="1" dirty="0"/>
              <a:t>Observations:</a:t>
            </a:r>
          </a:p>
          <a:p>
            <a:pPr marL="285750" indent="-285750">
              <a:buFont typeface="Arial" panose="020B0604020202020204" pitchFamily="34" charset="0"/>
              <a:buChar char="•"/>
            </a:pPr>
            <a:endParaRPr lang="en-IN" sz="2000" b="1" dirty="0"/>
          </a:p>
          <a:p>
            <a:pPr marL="342900" indent="-342900">
              <a:buAutoNum type="arabicPeriod"/>
            </a:pPr>
            <a:r>
              <a:rPr lang="en-IN" sz="2000" dirty="0">
                <a:latin typeface="Times New Roman" panose="02020603050405020304" pitchFamily="18" charset="0"/>
                <a:cs typeface="Times New Roman" panose="02020603050405020304" pitchFamily="18" charset="0"/>
              </a:rPr>
              <a:t>There are a total of 768 records and 9 features in the dataset.</a:t>
            </a:r>
          </a:p>
          <a:p>
            <a:pPr marL="342900" indent="-342900">
              <a:buAutoNum type="arabicPeriod"/>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2. Each feature can be either of integer or float </a:t>
            </a:r>
            <a:r>
              <a:rPr lang="en-IN" sz="2000" dirty="0" err="1">
                <a:latin typeface="Times New Roman" panose="02020603050405020304" pitchFamily="18" charset="0"/>
                <a:cs typeface="Times New Roman" panose="02020603050405020304" pitchFamily="18" charset="0"/>
              </a:rPr>
              <a:t>dataype</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3. Some features like Glucose, Blood pressure , Insulin, BMI have zero values which represent missing data.</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4. There are zero </a:t>
            </a:r>
            <a:r>
              <a:rPr lang="en-IN" sz="2000" dirty="0" err="1">
                <a:latin typeface="Times New Roman" panose="02020603050405020304" pitchFamily="18" charset="0"/>
                <a:cs typeface="Times New Roman" panose="02020603050405020304" pitchFamily="18" charset="0"/>
              </a:rPr>
              <a:t>NaN</a:t>
            </a:r>
            <a:r>
              <a:rPr lang="en-IN" sz="2000" dirty="0">
                <a:latin typeface="Times New Roman" panose="02020603050405020304" pitchFamily="18" charset="0"/>
                <a:cs typeface="Times New Roman" panose="02020603050405020304" pitchFamily="18" charset="0"/>
              </a:rPr>
              <a:t> values in the dataset.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5. In the outcome column, 1 represents diabetes positive and 0 represents diabetes negative.</a:t>
            </a:r>
          </a:p>
        </p:txBody>
      </p:sp>
    </p:spTree>
    <p:extLst>
      <p:ext uri="{BB962C8B-B14F-4D97-AF65-F5344CB8AC3E}">
        <p14:creationId xmlns:p14="http://schemas.microsoft.com/office/powerpoint/2010/main" val="4234289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EDA689-2302-5971-AE9C-4D9F3BD3C1D6}"/>
              </a:ext>
            </a:extLst>
          </p:cNvPr>
          <p:cNvSpPr>
            <a:spLocks noGrp="1"/>
          </p:cNvSpPr>
          <p:nvPr>
            <p:ph type="sldNum" idx="10"/>
          </p:nvPr>
        </p:nvSpPr>
        <p:spPr/>
        <p:txBody>
          <a:bodyPr/>
          <a:lstStyle/>
          <a:p>
            <a:pPr>
              <a:defRPr/>
            </a:pPr>
            <a:fld id="{EEC4746D-2915-46BF-985B-D22A733B7AB4}" type="slidenum">
              <a:rPr lang="en-GB" altLang="en-US" smtClean="0"/>
              <a:pPr>
                <a:defRPr/>
              </a:pPr>
              <a:t>7</a:t>
            </a:fld>
            <a:endParaRPr lang="en-US" altLang="en-US"/>
          </a:p>
        </p:txBody>
      </p:sp>
      <p:sp>
        <p:nvSpPr>
          <p:cNvPr id="3" name="TextBox 2">
            <a:extLst>
              <a:ext uri="{FF2B5EF4-FFF2-40B4-BE49-F238E27FC236}">
                <a16:creationId xmlns:a16="http://schemas.microsoft.com/office/drawing/2014/main" id="{5DFBC47F-9817-A2F7-41DD-1E7CF9EDD9B6}"/>
              </a:ext>
            </a:extLst>
          </p:cNvPr>
          <p:cNvSpPr txBox="1"/>
          <p:nvPr/>
        </p:nvSpPr>
        <p:spPr>
          <a:xfrm>
            <a:off x="323528" y="1340768"/>
            <a:ext cx="540060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Data Visualization</a:t>
            </a:r>
          </a:p>
        </p:txBody>
      </p:sp>
      <p:pic>
        <p:nvPicPr>
          <p:cNvPr id="5" name="Picture 4">
            <a:extLst>
              <a:ext uri="{FF2B5EF4-FFF2-40B4-BE49-F238E27FC236}">
                <a16:creationId xmlns:a16="http://schemas.microsoft.com/office/drawing/2014/main" id="{9BEF7E34-BC79-57F7-73D6-34E07D715056}"/>
              </a:ext>
            </a:extLst>
          </p:cNvPr>
          <p:cNvPicPr>
            <a:picLocks noChangeAspect="1"/>
          </p:cNvPicPr>
          <p:nvPr/>
        </p:nvPicPr>
        <p:blipFill>
          <a:blip r:embed="rId2"/>
          <a:stretch>
            <a:fillRect/>
          </a:stretch>
        </p:blipFill>
        <p:spPr>
          <a:xfrm>
            <a:off x="327178" y="1894554"/>
            <a:ext cx="4244822" cy="3068891"/>
          </a:xfrm>
          <a:prstGeom prst="rect">
            <a:avLst/>
          </a:prstGeom>
        </p:spPr>
      </p:pic>
      <p:sp>
        <p:nvSpPr>
          <p:cNvPr id="6" name="TextBox 5">
            <a:extLst>
              <a:ext uri="{FF2B5EF4-FFF2-40B4-BE49-F238E27FC236}">
                <a16:creationId xmlns:a16="http://schemas.microsoft.com/office/drawing/2014/main" id="{16CA5B1A-8894-5ACD-1C2C-BA7EC7AE14EF}"/>
              </a:ext>
            </a:extLst>
          </p:cNvPr>
          <p:cNvSpPr txBox="1"/>
          <p:nvPr/>
        </p:nvSpPr>
        <p:spPr>
          <a:xfrm>
            <a:off x="323528" y="5117121"/>
            <a:ext cx="7848872"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This shows the dataset is not balanced since the number of people who have diabetes are less than the number of people who are not have diabetes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083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A26D31-7506-51A7-75CB-245BA3E16DD8}"/>
              </a:ext>
            </a:extLst>
          </p:cNvPr>
          <p:cNvSpPr>
            <a:spLocks noGrp="1"/>
          </p:cNvSpPr>
          <p:nvPr>
            <p:ph type="sldNum" idx="10"/>
          </p:nvPr>
        </p:nvSpPr>
        <p:spPr/>
        <p:txBody>
          <a:bodyPr/>
          <a:lstStyle/>
          <a:p>
            <a:pPr>
              <a:defRPr/>
            </a:pPr>
            <a:fld id="{EEC4746D-2915-46BF-985B-D22A733B7AB4}" type="slidenum">
              <a:rPr lang="en-GB" altLang="en-US" smtClean="0"/>
              <a:pPr>
                <a:defRPr/>
              </a:pPr>
              <a:t>8</a:t>
            </a:fld>
            <a:endParaRPr lang="en-US" altLang="en-US"/>
          </a:p>
        </p:txBody>
      </p:sp>
      <p:pic>
        <p:nvPicPr>
          <p:cNvPr id="4" name="Picture 3">
            <a:extLst>
              <a:ext uri="{FF2B5EF4-FFF2-40B4-BE49-F238E27FC236}">
                <a16:creationId xmlns:a16="http://schemas.microsoft.com/office/drawing/2014/main" id="{554D1C4C-D76A-6B30-1E01-42CD97CB7C1B}"/>
              </a:ext>
            </a:extLst>
          </p:cNvPr>
          <p:cNvPicPr>
            <a:picLocks noChangeAspect="1"/>
          </p:cNvPicPr>
          <p:nvPr/>
        </p:nvPicPr>
        <p:blipFill>
          <a:blip r:embed="rId2"/>
          <a:stretch>
            <a:fillRect/>
          </a:stretch>
        </p:blipFill>
        <p:spPr>
          <a:xfrm>
            <a:off x="971600" y="764704"/>
            <a:ext cx="5400600" cy="4237825"/>
          </a:xfrm>
          <a:prstGeom prst="rect">
            <a:avLst/>
          </a:prstGeom>
        </p:spPr>
      </p:pic>
      <p:sp>
        <p:nvSpPr>
          <p:cNvPr id="5" name="TextBox 4">
            <a:extLst>
              <a:ext uri="{FF2B5EF4-FFF2-40B4-BE49-F238E27FC236}">
                <a16:creationId xmlns:a16="http://schemas.microsoft.com/office/drawing/2014/main" id="{34BDBDA6-98B5-9193-D3B5-374740579BA8}"/>
              </a:ext>
            </a:extLst>
          </p:cNvPr>
          <p:cNvSpPr txBox="1"/>
          <p:nvPr/>
        </p:nvSpPr>
        <p:spPr>
          <a:xfrm>
            <a:off x="467544" y="5202575"/>
            <a:ext cx="7632848"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From the </a:t>
            </a:r>
            <a:r>
              <a:rPr lang="en-US" sz="2000" dirty="0" err="1">
                <a:latin typeface="Times New Roman" panose="02020603050405020304" pitchFamily="18" charset="0"/>
                <a:cs typeface="Times New Roman" panose="02020603050405020304" pitchFamily="18" charset="0"/>
              </a:rPr>
              <a:t>correaltion</a:t>
            </a:r>
            <a:r>
              <a:rPr lang="en-US" sz="2000" dirty="0">
                <a:latin typeface="Times New Roman" panose="02020603050405020304" pitchFamily="18" charset="0"/>
                <a:cs typeface="Times New Roman" panose="02020603050405020304" pitchFamily="18" charset="0"/>
              </a:rPr>
              <a:t> heatmap, we can see that there is a high correlation between Outcome and [</a:t>
            </a:r>
            <a:r>
              <a:rPr lang="en-US" sz="2000" dirty="0" err="1">
                <a:latin typeface="Times New Roman" panose="02020603050405020304" pitchFamily="18" charset="0"/>
                <a:cs typeface="Times New Roman" panose="02020603050405020304" pitchFamily="18" charset="0"/>
              </a:rPr>
              <a:t>Glucose,BMl,Age,lnsulin</a:t>
            </a:r>
            <a:r>
              <a:rPr lang="en-US" sz="2000" dirty="0">
                <a:latin typeface="Times New Roman" panose="02020603050405020304" pitchFamily="18" charset="0"/>
                <a:cs typeface="Times New Roman" panose="02020603050405020304" pitchFamily="18" charset="0"/>
              </a:rPr>
              <a:t>]. We can select</a:t>
            </a:r>
          </a:p>
          <a:p>
            <a:r>
              <a:rPr lang="en-US" sz="2000" dirty="0">
                <a:latin typeface="Times New Roman" panose="02020603050405020304" pitchFamily="18" charset="0"/>
                <a:cs typeface="Times New Roman" panose="02020603050405020304" pitchFamily="18" charset="0"/>
              </a:rPr>
              <a:t>these features to accept input from the user and predict the outcome.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6322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7E7957-1E08-0D03-6C9D-30362891FBF1}"/>
              </a:ext>
            </a:extLst>
          </p:cNvPr>
          <p:cNvSpPr>
            <a:spLocks noGrp="1"/>
          </p:cNvSpPr>
          <p:nvPr>
            <p:ph type="sldNum" idx="10"/>
          </p:nvPr>
        </p:nvSpPr>
        <p:spPr/>
        <p:txBody>
          <a:bodyPr/>
          <a:lstStyle/>
          <a:p>
            <a:pPr>
              <a:defRPr/>
            </a:pPr>
            <a:fld id="{EEC4746D-2915-46BF-985B-D22A733B7AB4}" type="slidenum">
              <a:rPr lang="en-GB" altLang="en-US" smtClean="0"/>
              <a:pPr>
                <a:defRPr/>
              </a:pPr>
              <a:t>9</a:t>
            </a:fld>
            <a:endParaRPr lang="en-US" altLang="en-US"/>
          </a:p>
        </p:txBody>
      </p:sp>
      <p:sp>
        <p:nvSpPr>
          <p:cNvPr id="3" name="TextBox 2">
            <a:extLst>
              <a:ext uri="{FF2B5EF4-FFF2-40B4-BE49-F238E27FC236}">
                <a16:creationId xmlns:a16="http://schemas.microsoft.com/office/drawing/2014/main" id="{E3BCE9C7-B194-7E67-BE7D-E66796EE44CA}"/>
              </a:ext>
            </a:extLst>
          </p:cNvPr>
          <p:cNvSpPr txBox="1"/>
          <p:nvPr/>
        </p:nvSpPr>
        <p:spPr>
          <a:xfrm>
            <a:off x="273399" y="980728"/>
            <a:ext cx="6984776"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Data Preprocessing:</a:t>
            </a:r>
          </a:p>
        </p:txBody>
      </p:sp>
      <p:sp>
        <p:nvSpPr>
          <p:cNvPr id="4" name="TextBox 3">
            <a:extLst>
              <a:ext uri="{FF2B5EF4-FFF2-40B4-BE49-F238E27FC236}">
                <a16:creationId xmlns:a16="http://schemas.microsoft.com/office/drawing/2014/main" id="{1DB55E8D-E0F2-C60B-2222-FEBF762E4D9D}"/>
              </a:ext>
            </a:extLst>
          </p:cNvPr>
          <p:cNvSpPr txBox="1"/>
          <p:nvPr/>
        </p:nvSpPr>
        <p:spPr>
          <a:xfrm>
            <a:off x="251520" y="1700808"/>
            <a:ext cx="8352928" cy="4001095"/>
          </a:xfrm>
          <a:prstGeom prst="rect">
            <a:avLst/>
          </a:prstGeom>
          <a:noFill/>
        </p:spPr>
        <p:txBody>
          <a:bodyPr wrap="square" rtlCol="0">
            <a:spAutoFit/>
          </a:bodyPr>
          <a:lstStyle/>
          <a:p>
            <a:pPr algn="l">
              <a:buFont typeface="+mj-lt"/>
              <a:buAutoNum type="arabicPeriod"/>
            </a:pPr>
            <a:r>
              <a:rPr lang="en-US" sz="2000" b="1" i="0" dirty="0">
                <a:solidFill>
                  <a:schemeClr val="tx1"/>
                </a:solidFill>
                <a:effectLst/>
                <a:latin typeface="Times New Roman" panose="02020603050405020304" pitchFamily="18" charset="0"/>
                <a:cs typeface="Times New Roman" panose="02020603050405020304" pitchFamily="18" charset="0"/>
              </a:rPr>
              <a:t>Replacing Zero Values with </a:t>
            </a:r>
            <a:r>
              <a:rPr lang="en-US" sz="2000" b="1" i="0" dirty="0" err="1">
                <a:solidFill>
                  <a:schemeClr val="tx1"/>
                </a:solidFill>
                <a:effectLst/>
                <a:latin typeface="Times New Roman" panose="02020603050405020304" pitchFamily="18" charset="0"/>
                <a:cs typeface="Times New Roman" panose="02020603050405020304" pitchFamily="18" charset="0"/>
              </a:rPr>
              <a:t>NaN</a:t>
            </a:r>
            <a:r>
              <a:rPr lang="en-US" sz="2000" b="0" i="0" dirty="0">
                <a:solidFill>
                  <a:schemeClr val="tx1"/>
                </a:solidFill>
                <a:effectLst/>
                <a:latin typeface="Times New Roman" panose="02020603050405020304" pitchFamily="18" charset="0"/>
                <a:cs typeface="Times New Roman" panose="02020603050405020304" pitchFamily="18" charset="0"/>
              </a:rPr>
              <a:t>: This step aims to identify and replace any zero values in certain features (columns) of the dataset with </a:t>
            </a:r>
            <a:r>
              <a:rPr lang="en-US" sz="2000" b="0" i="0" dirty="0" err="1">
                <a:solidFill>
                  <a:schemeClr val="tx1"/>
                </a:solidFill>
                <a:effectLst/>
                <a:latin typeface="Times New Roman" panose="02020603050405020304" pitchFamily="18" charset="0"/>
                <a:cs typeface="Times New Roman" panose="02020603050405020304" pitchFamily="18" charset="0"/>
              </a:rPr>
              <a:t>NaN</a:t>
            </a:r>
            <a:r>
              <a:rPr lang="en-US" sz="2000" b="0" i="0" dirty="0">
                <a:solidFill>
                  <a:schemeClr val="tx1"/>
                </a:solidFill>
                <a:effectLst/>
                <a:latin typeface="Times New Roman" panose="02020603050405020304" pitchFamily="18" charset="0"/>
                <a:cs typeface="Times New Roman" panose="02020603050405020304" pitchFamily="18" charset="0"/>
              </a:rPr>
              <a:t> (Not a Number). This is done for the features Glucose, </a:t>
            </a:r>
            <a:r>
              <a:rPr lang="en-US" sz="2000" b="0" i="0" dirty="0" err="1">
                <a:solidFill>
                  <a:schemeClr val="tx1"/>
                </a:solidFill>
                <a:effectLst/>
                <a:latin typeface="Times New Roman" panose="02020603050405020304" pitchFamily="18" charset="0"/>
                <a:cs typeface="Times New Roman" panose="02020603050405020304" pitchFamily="18" charset="0"/>
              </a:rPr>
              <a:t>BloodPressure</a:t>
            </a:r>
            <a:r>
              <a:rPr lang="en-US" sz="2000" b="0" i="0" dirty="0">
                <a:solidFill>
                  <a:schemeClr val="tx1"/>
                </a:solidFill>
                <a:effectLst/>
                <a:latin typeface="Times New Roman" panose="02020603050405020304" pitchFamily="18" charset="0"/>
                <a:cs typeface="Times New Roman" panose="02020603050405020304" pitchFamily="18" charset="0"/>
              </a:rPr>
              <a:t>, </a:t>
            </a:r>
            <a:r>
              <a:rPr lang="en-US" sz="2000" b="0" i="0" dirty="0" err="1">
                <a:solidFill>
                  <a:schemeClr val="tx1"/>
                </a:solidFill>
                <a:effectLst/>
                <a:latin typeface="Times New Roman" panose="02020603050405020304" pitchFamily="18" charset="0"/>
                <a:cs typeface="Times New Roman" panose="02020603050405020304" pitchFamily="18" charset="0"/>
              </a:rPr>
              <a:t>SkinThickness</a:t>
            </a:r>
            <a:r>
              <a:rPr lang="en-US" sz="2000" b="0" i="0" dirty="0">
                <a:solidFill>
                  <a:schemeClr val="tx1"/>
                </a:solidFill>
                <a:effectLst/>
                <a:latin typeface="Times New Roman" panose="02020603050405020304" pitchFamily="18" charset="0"/>
                <a:cs typeface="Times New Roman" panose="02020603050405020304" pitchFamily="18" charset="0"/>
              </a:rPr>
              <a:t>, Insulin, and BMI. It's a common practice to replace zero values with </a:t>
            </a:r>
            <a:r>
              <a:rPr lang="en-US" sz="2000" b="0" i="0" dirty="0" err="1">
                <a:solidFill>
                  <a:schemeClr val="tx1"/>
                </a:solidFill>
                <a:effectLst/>
                <a:latin typeface="Times New Roman" panose="02020603050405020304" pitchFamily="18" charset="0"/>
                <a:cs typeface="Times New Roman" panose="02020603050405020304" pitchFamily="18" charset="0"/>
              </a:rPr>
              <a:t>NaN</a:t>
            </a:r>
            <a:r>
              <a:rPr lang="en-US" sz="2000" b="0" i="0" dirty="0">
                <a:solidFill>
                  <a:schemeClr val="tx1"/>
                </a:solidFill>
                <a:effectLst/>
                <a:latin typeface="Times New Roman" panose="02020603050405020304" pitchFamily="18" charset="0"/>
                <a:cs typeface="Times New Roman" panose="02020603050405020304" pitchFamily="18" charset="0"/>
              </a:rPr>
              <a:t> to better handle missing data during subsequent preprocessing steps.</a:t>
            </a:r>
          </a:p>
          <a:p>
            <a:pPr algn="l">
              <a:buFont typeface="+mj-lt"/>
              <a:buAutoNum type="arabicPeriod"/>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b="1" i="0" dirty="0">
                <a:solidFill>
                  <a:schemeClr val="tx1"/>
                </a:solidFill>
                <a:effectLst/>
                <a:latin typeface="Times New Roman" panose="02020603050405020304" pitchFamily="18" charset="0"/>
                <a:cs typeface="Times New Roman" panose="02020603050405020304" pitchFamily="18" charset="0"/>
              </a:rPr>
              <a:t>Replacing </a:t>
            </a:r>
            <a:r>
              <a:rPr lang="en-US" sz="2000" b="1" i="0" dirty="0" err="1">
                <a:solidFill>
                  <a:schemeClr val="tx1"/>
                </a:solidFill>
                <a:effectLst/>
                <a:latin typeface="Times New Roman" panose="02020603050405020304" pitchFamily="18" charset="0"/>
                <a:cs typeface="Times New Roman" panose="02020603050405020304" pitchFamily="18" charset="0"/>
              </a:rPr>
              <a:t>NaN</a:t>
            </a:r>
            <a:r>
              <a:rPr lang="en-US" sz="2000" b="1" i="0" dirty="0">
                <a:solidFill>
                  <a:schemeClr val="tx1"/>
                </a:solidFill>
                <a:effectLst/>
                <a:latin typeface="Times New Roman" panose="02020603050405020304" pitchFamily="18" charset="0"/>
                <a:cs typeface="Times New Roman" panose="02020603050405020304" pitchFamily="18" charset="0"/>
              </a:rPr>
              <a:t> with Mean Values</a:t>
            </a:r>
            <a:r>
              <a:rPr lang="en-US" sz="2000" b="0" i="0" dirty="0">
                <a:solidFill>
                  <a:schemeClr val="tx1"/>
                </a:solidFill>
                <a:effectLst/>
                <a:latin typeface="Times New Roman" panose="02020603050405020304" pitchFamily="18" charset="0"/>
                <a:cs typeface="Times New Roman" panose="02020603050405020304" pitchFamily="18" charset="0"/>
              </a:rPr>
              <a:t>: After identifying the missing values (</a:t>
            </a:r>
            <a:r>
              <a:rPr lang="en-US" sz="2000" b="0" i="0" dirty="0" err="1">
                <a:solidFill>
                  <a:schemeClr val="tx1"/>
                </a:solidFill>
                <a:effectLst/>
                <a:latin typeface="Times New Roman" panose="02020603050405020304" pitchFamily="18" charset="0"/>
                <a:cs typeface="Times New Roman" panose="02020603050405020304" pitchFamily="18" charset="0"/>
              </a:rPr>
              <a:t>NaN</a:t>
            </a:r>
            <a:r>
              <a:rPr lang="en-US" sz="2000" b="0" i="0" dirty="0">
                <a:solidFill>
                  <a:schemeClr val="tx1"/>
                </a:solidFill>
                <a:effectLst/>
                <a:latin typeface="Times New Roman" panose="02020603050405020304" pitchFamily="18" charset="0"/>
                <a:cs typeface="Times New Roman" panose="02020603050405020304" pitchFamily="18" charset="0"/>
              </a:rPr>
              <a:t>), the next step is to impute these missing values. In this case, missing values in the features Glucose, </a:t>
            </a:r>
            <a:r>
              <a:rPr lang="en-US" sz="2000" b="0" i="0" dirty="0" err="1">
                <a:solidFill>
                  <a:schemeClr val="tx1"/>
                </a:solidFill>
                <a:effectLst/>
                <a:latin typeface="Times New Roman" panose="02020603050405020304" pitchFamily="18" charset="0"/>
                <a:cs typeface="Times New Roman" panose="02020603050405020304" pitchFamily="18" charset="0"/>
              </a:rPr>
              <a:t>BloodPressure</a:t>
            </a:r>
            <a:r>
              <a:rPr lang="en-US" sz="2000" b="0" i="0" dirty="0">
                <a:solidFill>
                  <a:schemeClr val="tx1"/>
                </a:solidFill>
                <a:effectLst/>
                <a:latin typeface="Times New Roman" panose="02020603050405020304" pitchFamily="18" charset="0"/>
                <a:cs typeface="Times New Roman" panose="02020603050405020304" pitchFamily="18" charset="0"/>
              </a:rPr>
              <a:t>, </a:t>
            </a:r>
            <a:r>
              <a:rPr lang="en-US" sz="2000" b="0" i="0" dirty="0" err="1">
                <a:solidFill>
                  <a:schemeClr val="tx1"/>
                </a:solidFill>
                <a:effectLst/>
                <a:latin typeface="Times New Roman" panose="02020603050405020304" pitchFamily="18" charset="0"/>
                <a:cs typeface="Times New Roman" panose="02020603050405020304" pitchFamily="18" charset="0"/>
              </a:rPr>
              <a:t>SkinThickness</a:t>
            </a:r>
            <a:r>
              <a:rPr lang="en-US" sz="2000" b="0" i="0" dirty="0">
                <a:solidFill>
                  <a:schemeClr val="tx1"/>
                </a:solidFill>
                <a:effectLst/>
                <a:latin typeface="Times New Roman" panose="02020603050405020304" pitchFamily="18" charset="0"/>
                <a:cs typeface="Times New Roman" panose="02020603050405020304" pitchFamily="18" charset="0"/>
              </a:rPr>
              <a:t>, Insulin, and BMI are replaced with the mean values of their respective columns. Imputing missing values with mean values is a simple and commonly used method to handle missing data.</a:t>
            </a:r>
          </a:p>
          <a:p>
            <a:endParaRPr lang="en-IN" dirty="0"/>
          </a:p>
        </p:txBody>
      </p:sp>
    </p:spTree>
    <p:extLst>
      <p:ext uri="{BB962C8B-B14F-4D97-AF65-F5344CB8AC3E}">
        <p14:creationId xmlns:p14="http://schemas.microsoft.com/office/powerpoint/2010/main" val="2994083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302EB4-1A79-1D13-258C-DDADAABE8BB5}"/>
              </a:ext>
            </a:extLst>
          </p:cNvPr>
          <p:cNvSpPr>
            <a:spLocks noGrp="1"/>
          </p:cNvSpPr>
          <p:nvPr>
            <p:ph type="sldNum" idx="10"/>
          </p:nvPr>
        </p:nvSpPr>
        <p:spPr/>
        <p:txBody>
          <a:bodyPr/>
          <a:lstStyle/>
          <a:p>
            <a:pPr>
              <a:defRPr/>
            </a:pPr>
            <a:fld id="{EEC4746D-2915-46BF-985B-D22A733B7AB4}" type="slidenum">
              <a:rPr lang="en-GB" altLang="en-US" smtClean="0"/>
              <a:pPr>
                <a:defRPr/>
              </a:pPr>
              <a:t>10</a:t>
            </a:fld>
            <a:endParaRPr lang="en-US" altLang="en-US"/>
          </a:p>
        </p:txBody>
      </p:sp>
      <p:sp>
        <p:nvSpPr>
          <p:cNvPr id="3" name="TextBox 2">
            <a:extLst>
              <a:ext uri="{FF2B5EF4-FFF2-40B4-BE49-F238E27FC236}">
                <a16:creationId xmlns:a16="http://schemas.microsoft.com/office/drawing/2014/main" id="{40A7292B-F227-57B8-86C5-7B9EAFC7C137}"/>
              </a:ext>
            </a:extLst>
          </p:cNvPr>
          <p:cNvSpPr txBox="1"/>
          <p:nvPr/>
        </p:nvSpPr>
        <p:spPr>
          <a:xfrm>
            <a:off x="395536" y="1916832"/>
            <a:ext cx="8076952" cy="3477875"/>
          </a:xfrm>
          <a:prstGeom prst="rect">
            <a:avLst/>
          </a:prstGeom>
          <a:noFill/>
        </p:spPr>
        <p:txBody>
          <a:bodyPr wrap="square" rtlCol="0">
            <a:spAutoFit/>
          </a:bodyPr>
          <a:lstStyle/>
          <a:p>
            <a:pPr marL="457200" indent="-457200" algn="l">
              <a:buFont typeface="+mj-lt"/>
              <a:buAutoNum type="arabicPeriod" startAt="3"/>
            </a:pPr>
            <a:r>
              <a:rPr lang="en-US" sz="2000" b="1" i="0" dirty="0">
                <a:solidFill>
                  <a:schemeClr val="tx1"/>
                </a:solidFill>
                <a:effectLst/>
                <a:latin typeface="Times New Roman" panose="02020603050405020304" pitchFamily="18" charset="0"/>
                <a:cs typeface="Times New Roman" panose="02020603050405020304" pitchFamily="18" charset="0"/>
              </a:rPr>
              <a:t>Feature Scaling using </a:t>
            </a:r>
            <a:r>
              <a:rPr lang="en-US" sz="2000" b="1" i="0" dirty="0" err="1">
                <a:solidFill>
                  <a:schemeClr val="tx1"/>
                </a:solidFill>
                <a:effectLst/>
                <a:latin typeface="Times New Roman" panose="02020603050405020304" pitchFamily="18" charset="0"/>
                <a:cs typeface="Times New Roman" panose="02020603050405020304" pitchFamily="18" charset="0"/>
              </a:rPr>
              <a:t>MinMaxScaler</a:t>
            </a:r>
            <a:r>
              <a:rPr lang="en-US" sz="2000" b="0" i="0" dirty="0">
                <a:solidFill>
                  <a:schemeClr val="tx1"/>
                </a:solidFill>
                <a:effectLst/>
                <a:latin typeface="Times New Roman" panose="02020603050405020304" pitchFamily="18" charset="0"/>
                <a:cs typeface="Times New Roman" panose="02020603050405020304" pitchFamily="18" charset="0"/>
              </a:rPr>
              <a:t>: Feature scaling is a preprocessing technique used to standardize the range of independent variables or features in the dataset. </a:t>
            </a:r>
            <a:r>
              <a:rPr lang="en-US" sz="2000" b="0" i="0" dirty="0" err="1">
                <a:solidFill>
                  <a:schemeClr val="tx1"/>
                </a:solidFill>
                <a:effectLst/>
                <a:latin typeface="Times New Roman" panose="02020603050405020304" pitchFamily="18" charset="0"/>
                <a:cs typeface="Times New Roman" panose="02020603050405020304" pitchFamily="18" charset="0"/>
              </a:rPr>
              <a:t>MinMaxScaler</a:t>
            </a:r>
            <a:r>
              <a:rPr lang="en-US" sz="2000" b="0" i="0" dirty="0">
                <a:solidFill>
                  <a:schemeClr val="tx1"/>
                </a:solidFill>
                <a:effectLst/>
                <a:latin typeface="Times New Roman" panose="02020603050405020304" pitchFamily="18" charset="0"/>
                <a:cs typeface="Times New Roman" panose="02020603050405020304" pitchFamily="18" charset="0"/>
              </a:rPr>
              <a:t> scales and translates each feature individually such that it is in the specified range, typically between 0 and 1. This ensures that all features contribute equally to the model training process and prevents features with larger scales from dominating the learning process.</a:t>
            </a:r>
          </a:p>
          <a:p>
            <a:pPr marL="457200" indent="-457200" algn="l">
              <a:buFont typeface="+mj-lt"/>
              <a:buAutoNum type="arabicPeriod" startAt="3"/>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a:buFont typeface="+mj-lt"/>
              <a:buAutoNum type="arabicPeriod" startAt="3"/>
            </a:pPr>
            <a:r>
              <a:rPr lang="en-US" sz="2000" b="1" i="0" dirty="0">
                <a:solidFill>
                  <a:schemeClr val="tx1"/>
                </a:solidFill>
                <a:effectLst/>
                <a:latin typeface="Times New Roman" panose="02020603050405020304" pitchFamily="18" charset="0"/>
                <a:cs typeface="Times New Roman" panose="02020603050405020304" pitchFamily="18" charset="0"/>
              </a:rPr>
              <a:t>  </a:t>
            </a:r>
            <a:r>
              <a:rPr lang="en-US" sz="2000" i="0" dirty="0">
                <a:solidFill>
                  <a:schemeClr val="tx1"/>
                </a:solidFill>
                <a:effectLst/>
                <a:latin typeface="Times New Roman" panose="02020603050405020304" pitchFamily="18" charset="0"/>
                <a:cs typeface="Times New Roman" panose="02020603050405020304" pitchFamily="18" charset="0"/>
              </a:rPr>
              <a:t>Selecting Features: This step selects specific features (Glucose, Insulin, BMI, Age) that will be</a:t>
            </a:r>
          </a:p>
          <a:p>
            <a:r>
              <a:rPr lang="en-US" sz="2000" i="0" dirty="0">
                <a:solidFill>
                  <a:schemeClr val="tx1"/>
                </a:solidFill>
                <a:effectLst/>
                <a:latin typeface="Times New Roman" panose="02020603050405020304" pitchFamily="18" charset="0"/>
                <a:cs typeface="Times New Roman" panose="02020603050405020304" pitchFamily="18" charset="0"/>
              </a:rPr>
              <a:t>used as input for the machine learning model.</a:t>
            </a:r>
            <a:endParaRPr lang="en-IN" dirty="0"/>
          </a:p>
        </p:txBody>
      </p:sp>
      <p:sp>
        <p:nvSpPr>
          <p:cNvPr id="4" name="TextBox 3">
            <a:extLst>
              <a:ext uri="{FF2B5EF4-FFF2-40B4-BE49-F238E27FC236}">
                <a16:creationId xmlns:a16="http://schemas.microsoft.com/office/drawing/2014/main" id="{176D4DEC-AD76-CAC5-17E8-E8E396550C2F}"/>
              </a:ext>
            </a:extLst>
          </p:cNvPr>
          <p:cNvSpPr txBox="1"/>
          <p:nvPr/>
        </p:nvSpPr>
        <p:spPr>
          <a:xfrm>
            <a:off x="323528" y="1124744"/>
            <a:ext cx="6264696" cy="61555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Data Preprocessing:</a:t>
            </a:r>
          </a:p>
          <a:p>
            <a:endParaRPr lang="en-IN" dirty="0"/>
          </a:p>
        </p:txBody>
      </p:sp>
    </p:spTree>
    <p:extLst>
      <p:ext uri="{BB962C8B-B14F-4D97-AF65-F5344CB8AC3E}">
        <p14:creationId xmlns:p14="http://schemas.microsoft.com/office/powerpoint/2010/main" val="1616125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CC7703-B546-D241-C296-77A0E5F4C227}"/>
              </a:ext>
            </a:extLst>
          </p:cNvPr>
          <p:cNvSpPr>
            <a:spLocks noGrp="1"/>
          </p:cNvSpPr>
          <p:nvPr>
            <p:ph type="sldNum" idx="10"/>
          </p:nvPr>
        </p:nvSpPr>
        <p:spPr/>
        <p:txBody>
          <a:bodyPr/>
          <a:lstStyle/>
          <a:p>
            <a:pPr>
              <a:defRPr/>
            </a:pPr>
            <a:fld id="{EEC4746D-2915-46BF-985B-D22A733B7AB4}" type="slidenum">
              <a:rPr lang="en-GB" altLang="en-US" smtClean="0"/>
              <a:pPr>
                <a:defRPr/>
              </a:pPr>
              <a:t>11</a:t>
            </a:fld>
            <a:endParaRPr lang="en-US" altLang="en-US"/>
          </a:p>
        </p:txBody>
      </p:sp>
      <p:sp>
        <p:nvSpPr>
          <p:cNvPr id="4" name="TextBox 3">
            <a:extLst>
              <a:ext uri="{FF2B5EF4-FFF2-40B4-BE49-F238E27FC236}">
                <a16:creationId xmlns:a16="http://schemas.microsoft.com/office/drawing/2014/main" id="{A2A171B0-28FA-E919-5AC0-095C96C9E32F}"/>
              </a:ext>
            </a:extLst>
          </p:cNvPr>
          <p:cNvSpPr txBox="1"/>
          <p:nvPr/>
        </p:nvSpPr>
        <p:spPr>
          <a:xfrm>
            <a:off x="251520" y="1196752"/>
            <a:ext cx="8352928" cy="61555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Data Preprocessing:</a:t>
            </a:r>
          </a:p>
          <a:p>
            <a:endParaRPr lang="en-IN" dirty="0"/>
          </a:p>
        </p:txBody>
      </p:sp>
      <p:sp>
        <p:nvSpPr>
          <p:cNvPr id="5" name="TextBox 4">
            <a:extLst>
              <a:ext uri="{FF2B5EF4-FFF2-40B4-BE49-F238E27FC236}">
                <a16:creationId xmlns:a16="http://schemas.microsoft.com/office/drawing/2014/main" id="{A0085DC2-C584-4E09-FAF3-028B45D118BF}"/>
              </a:ext>
            </a:extLst>
          </p:cNvPr>
          <p:cNvSpPr txBox="1"/>
          <p:nvPr/>
        </p:nvSpPr>
        <p:spPr>
          <a:xfrm>
            <a:off x="323528" y="1812305"/>
            <a:ext cx="8568952" cy="4216539"/>
          </a:xfrm>
          <a:prstGeom prst="rect">
            <a:avLst/>
          </a:prstGeom>
          <a:noFill/>
        </p:spPr>
        <p:txBody>
          <a:bodyPr wrap="square" rtlCol="0">
            <a:spAutoFit/>
          </a:bodyPr>
          <a:lstStyle/>
          <a:p>
            <a:r>
              <a:rPr lang="en-US" sz="2000" b="1" i="0" dirty="0">
                <a:solidFill>
                  <a:schemeClr val="tx1"/>
                </a:solidFill>
                <a:effectLst/>
                <a:latin typeface="Times New Roman" panose="02020603050405020304" pitchFamily="18" charset="0"/>
                <a:cs typeface="Times New Roman" panose="02020603050405020304" pitchFamily="18" charset="0"/>
              </a:rPr>
              <a:t>5. Splitting Data</a:t>
            </a:r>
            <a:r>
              <a:rPr lang="en-US" sz="2000" b="0" i="0" dirty="0">
                <a:solidFill>
                  <a:schemeClr val="tx1"/>
                </a:solidFill>
                <a:effectLst/>
                <a:latin typeface="Times New Roman" panose="02020603050405020304" pitchFamily="18" charset="0"/>
                <a:cs typeface="Times New Roman" panose="02020603050405020304" pitchFamily="18" charset="0"/>
              </a:rPr>
              <a:t>: The dataset is split into training and testing sets. This is important for evaluating the performance of the machine learning model. The training set is used to train the model, while the testing set is used to evaluate its performance.</a:t>
            </a:r>
          </a:p>
          <a:p>
            <a:endParaRPr lang="en-US" sz="2000" dirty="0">
              <a:solidFill>
                <a:schemeClr val="tx1"/>
              </a:solidFill>
              <a:latin typeface="Times New Roman" panose="02020603050405020304" pitchFamily="18" charset="0"/>
              <a:cs typeface="Times New Roman" panose="02020603050405020304" pitchFamily="18" charset="0"/>
            </a:endParaRPr>
          </a:p>
          <a:p>
            <a:r>
              <a:rPr lang="en-IN" sz="2000" b="1" i="0" dirty="0">
                <a:solidFill>
                  <a:schemeClr val="tx1"/>
                </a:solidFill>
                <a:effectLst/>
                <a:latin typeface="Times New Roman" panose="02020603050405020304" pitchFamily="18" charset="0"/>
                <a:cs typeface="Times New Roman" panose="02020603050405020304" pitchFamily="18" charset="0"/>
              </a:rPr>
              <a:t>Data Modelling:</a:t>
            </a:r>
          </a:p>
          <a:p>
            <a:endParaRPr lang="en-IN" sz="2000" b="1" dirty="0">
              <a:solidFill>
                <a:schemeClr val="tx1"/>
              </a:solidFill>
              <a:latin typeface="Times New Roman" panose="02020603050405020304" pitchFamily="18" charset="0"/>
              <a:cs typeface="Times New Roman" panose="02020603050405020304" pitchFamily="18" charset="0"/>
            </a:endParaRPr>
          </a:p>
          <a:p>
            <a:r>
              <a:rPr lang="en-US" sz="2000" b="0" i="0" dirty="0">
                <a:solidFill>
                  <a:schemeClr val="tx1"/>
                </a:solidFill>
                <a:effectLst/>
                <a:latin typeface="Times New Roman" panose="02020603050405020304" pitchFamily="18" charset="0"/>
                <a:cs typeface="Times New Roman" panose="02020603050405020304" pitchFamily="18" charset="0"/>
              </a:rPr>
              <a:t>Logistic Regression</a:t>
            </a:r>
          </a:p>
          <a:p>
            <a:r>
              <a:rPr lang="en-US" sz="2000" b="0" i="0" dirty="0">
                <a:solidFill>
                  <a:schemeClr val="tx1"/>
                </a:solidFill>
                <a:effectLst/>
                <a:latin typeface="Times New Roman" panose="02020603050405020304" pitchFamily="18" charset="0"/>
                <a:cs typeface="Times New Roman" panose="02020603050405020304" pitchFamily="18" charset="0"/>
              </a:rPr>
              <a:t>K Nearest neighbors</a:t>
            </a:r>
          </a:p>
          <a:p>
            <a:r>
              <a:rPr lang="en-US" sz="2000" b="0" i="0" dirty="0">
                <a:solidFill>
                  <a:schemeClr val="tx1"/>
                </a:solidFill>
                <a:effectLst/>
                <a:latin typeface="Times New Roman" panose="02020603050405020304" pitchFamily="18" charset="0"/>
                <a:cs typeface="Times New Roman" panose="02020603050405020304" pitchFamily="18" charset="0"/>
              </a:rPr>
              <a:t>Support Vector Classifier: </a:t>
            </a:r>
          </a:p>
          <a:p>
            <a:r>
              <a:rPr lang="en-US" sz="2000" b="0" i="0" dirty="0">
                <a:solidFill>
                  <a:schemeClr val="tx1"/>
                </a:solidFill>
                <a:effectLst/>
                <a:latin typeface="Times New Roman" panose="02020603050405020304" pitchFamily="18" charset="0"/>
                <a:cs typeface="Times New Roman" panose="02020603050405020304" pitchFamily="18" charset="0"/>
              </a:rPr>
              <a:t>Naive Bayes: </a:t>
            </a:r>
          </a:p>
          <a:p>
            <a:r>
              <a:rPr lang="en-US" sz="2000" b="0" i="0" dirty="0">
                <a:solidFill>
                  <a:schemeClr val="tx1"/>
                </a:solidFill>
                <a:effectLst/>
                <a:latin typeface="Times New Roman" panose="02020603050405020304" pitchFamily="18" charset="0"/>
                <a:cs typeface="Times New Roman" panose="02020603050405020304" pitchFamily="18" charset="0"/>
              </a:rPr>
              <a:t>Decision tree:</a:t>
            </a:r>
          </a:p>
          <a:p>
            <a:r>
              <a:rPr lang="en-US" sz="2000" b="0" i="0" dirty="0">
                <a:solidFill>
                  <a:schemeClr val="tx1"/>
                </a:solidFill>
                <a:effectLst/>
                <a:latin typeface="Times New Roman" panose="02020603050405020304" pitchFamily="18" charset="0"/>
                <a:cs typeface="Times New Roman" panose="02020603050405020304" pitchFamily="18" charset="0"/>
              </a:rPr>
              <a:t>Random Forest</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0534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EC62C7-C6D4-0A58-CD7A-7FB0285BA5C0}"/>
              </a:ext>
            </a:extLst>
          </p:cNvPr>
          <p:cNvSpPr>
            <a:spLocks noGrp="1"/>
          </p:cNvSpPr>
          <p:nvPr>
            <p:ph type="sldNum" idx="10"/>
          </p:nvPr>
        </p:nvSpPr>
        <p:spPr/>
        <p:txBody>
          <a:bodyPr/>
          <a:lstStyle/>
          <a:p>
            <a:pPr>
              <a:defRPr/>
            </a:pPr>
            <a:fld id="{EEC4746D-2915-46BF-985B-D22A733B7AB4}" type="slidenum">
              <a:rPr lang="en-GB" altLang="en-US" smtClean="0"/>
              <a:pPr>
                <a:defRPr/>
              </a:pPr>
              <a:t>12</a:t>
            </a:fld>
            <a:endParaRPr lang="en-US" altLang="en-US"/>
          </a:p>
        </p:txBody>
      </p:sp>
      <p:sp>
        <p:nvSpPr>
          <p:cNvPr id="3" name="TextBox 2">
            <a:extLst>
              <a:ext uri="{FF2B5EF4-FFF2-40B4-BE49-F238E27FC236}">
                <a16:creationId xmlns:a16="http://schemas.microsoft.com/office/drawing/2014/main" id="{6B7DCE41-79C3-375E-3BD4-83B5E4B4D0EF}"/>
              </a:ext>
            </a:extLst>
          </p:cNvPr>
          <p:cNvSpPr txBox="1"/>
          <p:nvPr/>
        </p:nvSpPr>
        <p:spPr>
          <a:xfrm>
            <a:off x="323528" y="836712"/>
            <a:ext cx="7776864" cy="5539978"/>
          </a:xfrm>
          <a:prstGeom prst="rect">
            <a:avLst/>
          </a:prstGeom>
          <a:noFill/>
        </p:spPr>
        <p:txBody>
          <a:bodyPr wrap="square" rtlCol="0">
            <a:spAutoFit/>
          </a:bodyPr>
          <a:lstStyle/>
          <a:p>
            <a:r>
              <a:rPr lang="en-IN" sz="2000" b="1" i="0" dirty="0">
                <a:solidFill>
                  <a:schemeClr val="tx1"/>
                </a:solidFill>
                <a:effectLst/>
                <a:latin typeface="Times New Roman" panose="02020603050405020304" pitchFamily="18" charset="0"/>
                <a:cs typeface="Times New Roman" panose="02020603050405020304" pitchFamily="18" charset="0"/>
              </a:rPr>
              <a:t>Model Evaluation:</a:t>
            </a:r>
          </a:p>
          <a:p>
            <a:endParaRPr lang="en-IN" sz="2000" b="1" dirty="0">
              <a:solidFill>
                <a:schemeClr val="tx1"/>
              </a:solidFill>
              <a:latin typeface="Times New Roman" panose="02020603050405020304" pitchFamily="18" charset="0"/>
              <a:cs typeface="Times New Roman" panose="02020603050405020304" pitchFamily="18" charset="0"/>
            </a:endParaRPr>
          </a:p>
          <a:p>
            <a:r>
              <a:rPr lang="en-US" sz="2000" b="0" i="0" dirty="0">
                <a:solidFill>
                  <a:schemeClr val="tx1"/>
                </a:solidFill>
                <a:effectLst/>
                <a:latin typeface="Times New Roman" panose="02020603050405020304" pitchFamily="18" charset="0"/>
                <a:cs typeface="Times New Roman" panose="02020603050405020304" pitchFamily="18" charset="0"/>
              </a:rPr>
              <a:t>logistic Regression: 72.07792207792207</a:t>
            </a:r>
          </a:p>
          <a:p>
            <a:endParaRPr lang="en-US" sz="2000" b="0" i="0" dirty="0">
              <a:solidFill>
                <a:schemeClr val="tx1"/>
              </a:solidFill>
              <a:effectLst/>
              <a:latin typeface="Times New Roman" panose="02020603050405020304" pitchFamily="18" charset="0"/>
              <a:cs typeface="Times New Roman" panose="02020603050405020304" pitchFamily="18" charset="0"/>
            </a:endParaRPr>
          </a:p>
          <a:p>
            <a:r>
              <a:rPr lang="en-US" sz="2000" b="0" i="0" dirty="0">
                <a:solidFill>
                  <a:schemeClr val="tx1"/>
                </a:solidFill>
                <a:effectLst/>
                <a:latin typeface="Times New Roman" panose="02020603050405020304" pitchFamily="18" charset="0"/>
                <a:cs typeface="Times New Roman" panose="02020603050405020304" pitchFamily="18" charset="0"/>
              </a:rPr>
              <a:t>K Nearest neighbors: 78.57142857142857 </a:t>
            </a:r>
          </a:p>
          <a:p>
            <a:endParaRPr lang="en-US" sz="2000" b="0" i="0" dirty="0">
              <a:solidFill>
                <a:schemeClr val="tx1"/>
              </a:solidFill>
              <a:effectLst/>
              <a:latin typeface="Times New Roman" panose="02020603050405020304" pitchFamily="18" charset="0"/>
              <a:cs typeface="Times New Roman" panose="02020603050405020304" pitchFamily="18" charset="0"/>
            </a:endParaRPr>
          </a:p>
          <a:p>
            <a:r>
              <a:rPr lang="en-US" sz="2000" b="0" i="0" dirty="0">
                <a:solidFill>
                  <a:schemeClr val="tx1"/>
                </a:solidFill>
                <a:effectLst/>
                <a:latin typeface="Times New Roman" panose="02020603050405020304" pitchFamily="18" charset="0"/>
                <a:cs typeface="Times New Roman" panose="02020603050405020304" pitchFamily="18" charset="0"/>
              </a:rPr>
              <a:t>Support Vector Classifier: 73.37662337662337</a:t>
            </a:r>
          </a:p>
          <a:p>
            <a:r>
              <a:rPr lang="en-US" sz="2000" b="0" i="0" dirty="0">
                <a:solidFill>
                  <a:schemeClr val="tx1"/>
                </a:solidFill>
                <a:effectLst/>
                <a:latin typeface="Times New Roman" panose="02020603050405020304" pitchFamily="18" charset="0"/>
                <a:cs typeface="Times New Roman" panose="02020603050405020304" pitchFamily="18" charset="0"/>
              </a:rPr>
              <a:t> </a:t>
            </a:r>
          </a:p>
          <a:p>
            <a:r>
              <a:rPr lang="en-US" sz="2000" b="0" i="0" dirty="0">
                <a:solidFill>
                  <a:schemeClr val="tx1"/>
                </a:solidFill>
                <a:effectLst/>
                <a:latin typeface="Times New Roman" panose="02020603050405020304" pitchFamily="18" charset="0"/>
                <a:cs typeface="Times New Roman" panose="02020603050405020304" pitchFamily="18" charset="0"/>
              </a:rPr>
              <a:t>Naive Bayes: 71.42857142857143 </a:t>
            </a:r>
          </a:p>
          <a:p>
            <a:endParaRPr lang="en-US" sz="2000" b="0" i="0" dirty="0">
              <a:solidFill>
                <a:schemeClr val="tx1"/>
              </a:solidFill>
              <a:effectLst/>
              <a:latin typeface="Times New Roman" panose="02020603050405020304" pitchFamily="18" charset="0"/>
              <a:cs typeface="Times New Roman" panose="02020603050405020304" pitchFamily="18" charset="0"/>
            </a:endParaRPr>
          </a:p>
          <a:p>
            <a:r>
              <a:rPr lang="en-US" sz="2000" b="0" i="0" dirty="0">
                <a:solidFill>
                  <a:schemeClr val="tx1"/>
                </a:solidFill>
                <a:effectLst/>
                <a:latin typeface="Times New Roman" panose="02020603050405020304" pitchFamily="18" charset="0"/>
                <a:cs typeface="Times New Roman" panose="02020603050405020304" pitchFamily="18" charset="0"/>
              </a:rPr>
              <a:t>Decision tree: 68.18181818181817 </a:t>
            </a:r>
          </a:p>
          <a:p>
            <a:endParaRPr lang="en-US" sz="2000" b="0" i="0" dirty="0">
              <a:solidFill>
                <a:schemeClr val="tx1"/>
              </a:solidFill>
              <a:effectLst/>
              <a:latin typeface="Times New Roman" panose="02020603050405020304" pitchFamily="18" charset="0"/>
              <a:cs typeface="Times New Roman" panose="02020603050405020304" pitchFamily="18" charset="0"/>
            </a:endParaRPr>
          </a:p>
          <a:p>
            <a:r>
              <a:rPr lang="en-US" sz="2000" b="0" i="0" dirty="0">
                <a:solidFill>
                  <a:schemeClr val="tx1"/>
                </a:solidFill>
                <a:effectLst/>
                <a:latin typeface="Times New Roman" panose="02020603050405020304" pitchFamily="18" charset="0"/>
                <a:cs typeface="Times New Roman" panose="02020603050405020304" pitchFamily="18" charset="0"/>
              </a:rPr>
              <a:t>Random Forest: 75.97402597402598</a:t>
            </a:r>
          </a:p>
          <a:p>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0" dirty="0">
                <a:solidFill>
                  <a:schemeClr val="tx1"/>
                </a:solidFill>
                <a:effectLst/>
                <a:latin typeface="Times New Roman" panose="02020603050405020304" pitchFamily="18" charset="0"/>
                <a:cs typeface="Times New Roman" panose="02020603050405020304" pitchFamily="18" charset="0"/>
              </a:rPr>
              <a:t>From the above comparison, we can observe that K Nearest neighbors gets the highest accuracy of 78.57 %</a:t>
            </a:r>
          </a:p>
          <a:p>
            <a:endParaRPr lang="en-IN" sz="2000" b="1" i="0"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59866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BF9C3B-CF2E-A3F7-5BE2-C93CDDAC467F}"/>
              </a:ext>
            </a:extLst>
          </p:cNvPr>
          <p:cNvSpPr>
            <a:spLocks noGrp="1"/>
          </p:cNvSpPr>
          <p:nvPr>
            <p:ph type="sldNum" idx="10"/>
          </p:nvPr>
        </p:nvSpPr>
        <p:spPr/>
        <p:txBody>
          <a:bodyPr/>
          <a:lstStyle/>
          <a:p>
            <a:pPr>
              <a:defRPr/>
            </a:pPr>
            <a:fld id="{EEC4746D-2915-46BF-985B-D22A733B7AB4}" type="slidenum">
              <a:rPr lang="en-GB" altLang="en-US" smtClean="0"/>
              <a:pPr>
                <a:defRPr/>
              </a:pPr>
              <a:t>13</a:t>
            </a:fld>
            <a:endParaRPr lang="en-US" altLang="en-US"/>
          </a:p>
        </p:txBody>
      </p:sp>
      <p:sp>
        <p:nvSpPr>
          <p:cNvPr id="3" name="TextBox 2">
            <a:extLst>
              <a:ext uri="{FF2B5EF4-FFF2-40B4-BE49-F238E27FC236}">
                <a16:creationId xmlns:a16="http://schemas.microsoft.com/office/drawing/2014/main" id="{8DD6FA3D-6F0F-2808-F301-0B77EAD39F7F}"/>
              </a:ext>
            </a:extLst>
          </p:cNvPr>
          <p:cNvSpPr txBox="1"/>
          <p:nvPr/>
        </p:nvSpPr>
        <p:spPr>
          <a:xfrm>
            <a:off x="251520" y="980728"/>
            <a:ext cx="8064896" cy="1538883"/>
          </a:xfrm>
          <a:prstGeom prst="rect">
            <a:avLst/>
          </a:prstGeom>
          <a:noFill/>
        </p:spPr>
        <p:txBody>
          <a:bodyPr wrap="square" rtlCol="0">
            <a:spAutoFit/>
          </a:bodyPr>
          <a:lstStyle/>
          <a:p>
            <a:r>
              <a:rPr lang="en-IN" sz="2000" b="1" dirty="0">
                <a:solidFill>
                  <a:schemeClr val="tx1"/>
                </a:solidFill>
                <a:effectLst/>
                <a:latin typeface="Times New Roman" panose="02020603050405020304" pitchFamily="18" charset="0"/>
                <a:cs typeface="Times New Roman" panose="02020603050405020304" pitchFamily="18" charset="0"/>
              </a:rPr>
              <a:t>Classification report:</a:t>
            </a: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effectLst/>
              <a:latin typeface="Times New Roman" panose="02020603050405020304" pitchFamily="18" charset="0"/>
              <a:cs typeface="Times New Roman" panose="02020603050405020304" pitchFamily="18" charset="0"/>
            </a:endParaRPr>
          </a:p>
          <a:p>
            <a:endParaRPr lang="en-IN" sz="2000" b="1"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FCF0A3E8-B183-C710-0352-F1F3F9886DC7}"/>
              </a:ext>
            </a:extLst>
          </p:cNvPr>
          <p:cNvPicPr>
            <a:picLocks noChangeAspect="1"/>
          </p:cNvPicPr>
          <p:nvPr/>
        </p:nvPicPr>
        <p:blipFill>
          <a:blip r:embed="rId2"/>
          <a:stretch>
            <a:fillRect/>
          </a:stretch>
        </p:blipFill>
        <p:spPr>
          <a:xfrm>
            <a:off x="251520" y="1737681"/>
            <a:ext cx="4677428" cy="1524213"/>
          </a:xfrm>
          <a:prstGeom prst="rect">
            <a:avLst/>
          </a:prstGeom>
        </p:spPr>
      </p:pic>
      <p:sp>
        <p:nvSpPr>
          <p:cNvPr id="6" name="TextBox 5">
            <a:extLst>
              <a:ext uri="{FF2B5EF4-FFF2-40B4-BE49-F238E27FC236}">
                <a16:creationId xmlns:a16="http://schemas.microsoft.com/office/drawing/2014/main" id="{35C2464C-D33F-388F-4641-AE0B3E63CFBA}"/>
              </a:ext>
            </a:extLst>
          </p:cNvPr>
          <p:cNvSpPr txBox="1"/>
          <p:nvPr/>
        </p:nvSpPr>
        <p:spPr>
          <a:xfrm>
            <a:off x="139665" y="3501008"/>
            <a:ext cx="6480720" cy="3077766"/>
          </a:xfrm>
          <a:prstGeom prst="rect">
            <a:avLst/>
          </a:prstGeom>
          <a:noFill/>
        </p:spPr>
        <p:txBody>
          <a:bodyPr wrap="square" rtlCol="0">
            <a:spAutoFit/>
          </a:bodyPr>
          <a:lstStyle/>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Class 0 has a precision of 0.81, recall of 0.87, and F1-score of 0.84. This means that the model did a good job of classifying class 0 instances.</a:t>
            </a:r>
          </a:p>
          <a:p>
            <a:pPr algn="l">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Class 1 has a lower precision of 0.72, recall of 0.63, and F1-score of 0.67. This means that the model did not perform as well on class 1 instances.</a:t>
            </a:r>
          </a:p>
          <a:p>
            <a:pPr algn="l"/>
            <a:r>
              <a:rPr lang="en-US" sz="2000" b="0" i="0" dirty="0">
                <a:solidFill>
                  <a:schemeClr val="tx1"/>
                </a:solidFill>
                <a:effectLst/>
                <a:latin typeface="Times New Roman" panose="02020603050405020304" pitchFamily="18" charset="0"/>
                <a:cs typeface="Times New Roman" panose="02020603050405020304" pitchFamily="18" charset="0"/>
              </a:rPr>
              <a:t>The accuracy is 0.77, which means that the model was correct 77% of the time.</a:t>
            </a:r>
          </a:p>
          <a:p>
            <a:endParaRPr lang="en-IN" dirty="0"/>
          </a:p>
        </p:txBody>
      </p:sp>
    </p:spTree>
    <p:extLst>
      <p:ext uri="{BB962C8B-B14F-4D97-AF65-F5344CB8AC3E}">
        <p14:creationId xmlns:p14="http://schemas.microsoft.com/office/powerpoint/2010/main" val="1372419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017E38-C68C-1022-B118-49BB5F2A60D2}"/>
              </a:ext>
            </a:extLst>
          </p:cNvPr>
          <p:cNvSpPr>
            <a:spLocks noGrp="1"/>
          </p:cNvSpPr>
          <p:nvPr>
            <p:ph type="sldNum" idx="10"/>
          </p:nvPr>
        </p:nvSpPr>
        <p:spPr/>
        <p:txBody>
          <a:bodyPr/>
          <a:lstStyle/>
          <a:p>
            <a:pPr>
              <a:defRPr/>
            </a:pPr>
            <a:fld id="{EEC4746D-2915-46BF-985B-D22A733B7AB4}" type="slidenum">
              <a:rPr lang="en-GB" altLang="en-US" smtClean="0"/>
              <a:pPr>
                <a:defRPr/>
              </a:pPr>
              <a:t>14</a:t>
            </a:fld>
            <a:endParaRPr lang="en-US" altLang="en-US"/>
          </a:p>
        </p:txBody>
      </p:sp>
      <p:sp>
        <p:nvSpPr>
          <p:cNvPr id="3" name="TextBox 2">
            <a:extLst>
              <a:ext uri="{FF2B5EF4-FFF2-40B4-BE49-F238E27FC236}">
                <a16:creationId xmlns:a16="http://schemas.microsoft.com/office/drawing/2014/main" id="{DC0350B6-9BE4-85A5-AA75-D6BDDCB86C4A}"/>
              </a:ext>
            </a:extLst>
          </p:cNvPr>
          <p:cNvSpPr txBox="1"/>
          <p:nvPr/>
        </p:nvSpPr>
        <p:spPr>
          <a:xfrm>
            <a:off x="323528" y="764704"/>
            <a:ext cx="5688632" cy="400110"/>
          </a:xfrm>
          <a:prstGeom prst="rect">
            <a:avLst/>
          </a:prstGeom>
          <a:noFill/>
        </p:spPr>
        <p:txBody>
          <a:bodyPr wrap="square" rtlCol="0">
            <a:spAutoFit/>
          </a:bodyPr>
          <a:lstStyle/>
          <a:p>
            <a:r>
              <a:rPr lang="en-US" sz="2000" b="1" dirty="0">
                <a:solidFill>
                  <a:schemeClr val="tx1"/>
                </a:solidFill>
                <a:latin typeface="Times New Roman" panose="02020603050405020304" pitchFamily="18" charset="0"/>
                <a:cs typeface="Times New Roman" panose="02020603050405020304" pitchFamily="18" charset="0"/>
              </a:rPr>
              <a:t>Alternate Preprocessing</a:t>
            </a:r>
            <a:r>
              <a:rPr lang="en-US" dirty="0"/>
              <a:t>:</a:t>
            </a:r>
            <a:endParaRPr lang="en-IN" dirty="0"/>
          </a:p>
        </p:txBody>
      </p:sp>
      <p:sp>
        <p:nvSpPr>
          <p:cNvPr id="4" name="TextBox 3">
            <a:extLst>
              <a:ext uri="{FF2B5EF4-FFF2-40B4-BE49-F238E27FC236}">
                <a16:creationId xmlns:a16="http://schemas.microsoft.com/office/drawing/2014/main" id="{D2982706-D6B2-65BA-E614-03C936C5CACA}"/>
              </a:ext>
            </a:extLst>
          </p:cNvPr>
          <p:cNvSpPr txBox="1"/>
          <p:nvPr/>
        </p:nvSpPr>
        <p:spPr>
          <a:xfrm>
            <a:off x="323528" y="1628800"/>
            <a:ext cx="8280920" cy="1015663"/>
          </a:xfrm>
          <a:prstGeom prst="rect">
            <a:avLst/>
          </a:prstGeom>
          <a:noFill/>
        </p:spPr>
        <p:txBody>
          <a:bodyPr wrap="square" rtlCol="0">
            <a:spAutoFit/>
          </a:bodyPr>
          <a:lstStyle/>
          <a:p>
            <a:pPr marL="342900" indent="-3429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Balanced the dataset by oversampling the dataset </a:t>
            </a:r>
          </a:p>
          <a:p>
            <a:pPr marL="342900" indent="-342900">
              <a:buFont typeface="Arial" panose="020B0604020202020204" pitchFamily="34" charset="0"/>
              <a:buChar char="•"/>
            </a:pPr>
            <a:endParaRPr lang="en-US" sz="200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33CA686-FDF1-87E4-90C8-56015FAD512E}"/>
              </a:ext>
            </a:extLst>
          </p:cNvPr>
          <p:cNvPicPr>
            <a:picLocks noChangeAspect="1"/>
          </p:cNvPicPr>
          <p:nvPr/>
        </p:nvPicPr>
        <p:blipFill>
          <a:blip r:embed="rId2"/>
          <a:stretch>
            <a:fillRect/>
          </a:stretch>
        </p:blipFill>
        <p:spPr>
          <a:xfrm>
            <a:off x="683568" y="2204864"/>
            <a:ext cx="4993202" cy="3627062"/>
          </a:xfrm>
          <a:prstGeom prst="rect">
            <a:avLst/>
          </a:prstGeom>
        </p:spPr>
      </p:pic>
    </p:spTree>
    <p:extLst>
      <p:ext uri="{BB962C8B-B14F-4D97-AF65-F5344CB8AC3E}">
        <p14:creationId xmlns:p14="http://schemas.microsoft.com/office/powerpoint/2010/main" val="2524736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57630E-181C-916C-B1BE-37AF7BFCF5B9}"/>
              </a:ext>
            </a:extLst>
          </p:cNvPr>
          <p:cNvSpPr>
            <a:spLocks noGrp="1"/>
          </p:cNvSpPr>
          <p:nvPr>
            <p:ph type="sldNum" idx="10"/>
          </p:nvPr>
        </p:nvSpPr>
        <p:spPr/>
        <p:txBody>
          <a:bodyPr/>
          <a:lstStyle/>
          <a:p>
            <a:pPr>
              <a:defRPr/>
            </a:pPr>
            <a:fld id="{EEC4746D-2915-46BF-985B-D22A733B7AB4}" type="slidenum">
              <a:rPr lang="en-GB" altLang="en-US" smtClean="0"/>
              <a:pPr>
                <a:defRPr/>
              </a:pPr>
              <a:t>15</a:t>
            </a:fld>
            <a:endParaRPr lang="en-US" altLang="en-US"/>
          </a:p>
        </p:txBody>
      </p:sp>
      <p:sp>
        <p:nvSpPr>
          <p:cNvPr id="3" name="TextBox 2">
            <a:extLst>
              <a:ext uri="{FF2B5EF4-FFF2-40B4-BE49-F238E27FC236}">
                <a16:creationId xmlns:a16="http://schemas.microsoft.com/office/drawing/2014/main" id="{7C7B0F10-FEE0-82F2-9805-DC9ACCE684A5}"/>
              </a:ext>
            </a:extLst>
          </p:cNvPr>
          <p:cNvSpPr txBox="1"/>
          <p:nvPr/>
        </p:nvSpPr>
        <p:spPr>
          <a:xfrm>
            <a:off x="322189" y="908720"/>
            <a:ext cx="8424936" cy="4616648"/>
          </a:xfrm>
          <a:prstGeom prst="rect">
            <a:avLst/>
          </a:prstGeom>
          <a:noFill/>
        </p:spPr>
        <p:txBody>
          <a:bodyPr wrap="square" rtlCol="0">
            <a:spAutoFit/>
          </a:bodyPr>
          <a:lstStyle/>
          <a:p>
            <a:r>
              <a:rPr lang="en-IN" sz="2000" b="1" i="0" dirty="0">
                <a:solidFill>
                  <a:schemeClr val="tx1"/>
                </a:solidFill>
                <a:effectLst/>
                <a:latin typeface="Times New Roman" panose="02020603050405020304" pitchFamily="18" charset="0"/>
                <a:cs typeface="Times New Roman" panose="02020603050405020304" pitchFamily="18" charset="0"/>
              </a:rPr>
              <a:t>Model Evaluation:</a:t>
            </a:r>
          </a:p>
          <a:p>
            <a:endParaRPr lang="en-IN" sz="2000" b="1" dirty="0">
              <a:solidFill>
                <a:schemeClr val="tx1"/>
              </a:solidFill>
              <a:latin typeface="Times New Roman" panose="02020603050405020304" pitchFamily="18" charset="0"/>
              <a:cs typeface="Times New Roman" panose="02020603050405020304" pitchFamily="18" charset="0"/>
            </a:endParaRPr>
          </a:p>
          <a:p>
            <a:r>
              <a:rPr lang="en-US" sz="2000" i="0" dirty="0">
                <a:solidFill>
                  <a:schemeClr val="tx1"/>
                </a:solidFill>
                <a:effectLst/>
                <a:latin typeface="Times New Roman" panose="02020603050405020304" pitchFamily="18" charset="0"/>
                <a:cs typeface="Times New Roman" panose="02020603050405020304" pitchFamily="18" charset="0"/>
              </a:rPr>
              <a:t>Logistic Regression: 74.0</a:t>
            </a:r>
          </a:p>
          <a:p>
            <a:r>
              <a:rPr lang="en-US" sz="2000" i="0" dirty="0">
                <a:solidFill>
                  <a:schemeClr val="tx1"/>
                </a:solidFill>
                <a:effectLst/>
                <a:latin typeface="Times New Roman" panose="02020603050405020304" pitchFamily="18" charset="0"/>
                <a:cs typeface="Times New Roman" panose="02020603050405020304" pitchFamily="18" charset="0"/>
              </a:rPr>
              <a:t>K Nearest neighbors: 76.5</a:t>
            </a:r>
          </a:p>
          <a:p>
            <a:r>
              <a:rPr lang="en-US" sz="2000" i="0" dirty="0">
                <a:solidFill>
                  <a:schemeClr val="tx1"/>
                </a:solidFill>
                <a:effectLst/>
                <a:latin typeface="Times New Roman" panose="02020603050405020304" pitchFamily="18" charset="0"/>
                <a:cs typeface="Times New Roman" panose="02020603050405020304" pitchFamily="18" charset="0"/>
              </a:rPr>
              <a:t>Support Vector Classifier: 73.0</a:t>
            </a:r>
          </a:p>
          <a:p>
            <a:r>
              <a:rPr lang="en-US" sz="2000" i="0" dirty="0">
                <a:solidFill>
                  <a:schemeClr val="tx1"/>
                </a:solidFill>
                <a:effectLst/>
                <a:latin typeface="Times New Roman" panose="02020603050405020304" pitchFamily="18" charset="0"/>
                <a:cs typeface="Times New Roman" panose="02020603050405020304" pitchFamily="18" charset="0"/>
              </a:rPr>
              <a:t>Naive Bayes: 70.0</a:t>
            </a:r>
          </a:p>
          <a:p>
            <a:r>
              <a:rPr lang="en-US" sz="2000" i="0" dirty="0">
                <a:solidFill>
                  <a:schemeClr val="tx1"/>
                </a:solidFill>
                <a:effectLst/>
                <a:latin typeface="Times New Roman" panose="02020603050405020304" pitchFamily="18" charset="0"/>
                <a:cs typeface="Times New Roman" panose="02020603050405020304" pitchFamily="18" charset="0"/>
              </a:rPr>
              <a:t>Decision tree: 74.0</a:t>
            </a:r>
          </a:p>
          <a:p>
            <a:r>
              <a:rPr lang="en-US" sz="2000" i="0" dirty="0">
                <a:solidFill>
                  <a:schemeClr val="tx1"/>
                </a:solidFill>
                <a:effectLst/>
                <a:latin typeface="Times New Roman" panose="02020603050405020304" pitchFamily="18" charset="0"/>
                <a:cs typeface="Times New Roman" panose="02020603050405020304" pitchFamily="18" charset="0"/>
              </a:rPr>
              <a:t>Random Forest: 78.5</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b="0" dirty="0">
                <a:solidFill>
                  <a:schemeClr val="tx1"/>
                </a:solidFill>
                <a:effectLst/>
                <a:latin typeface="Times New Roman" panose="02020603050405020304" pitchFamily="18" charset="0"/>
                <a:cs typeface="Times New Roman" panose="02020603050405020304" pitchFamily="18" charset="0"/>
              </a:rPr>
              <a:t>From the above comparison, we can observe that Random Forest gets the highest accuracy of 78.5 %</a:t>
            </a:r>
          </a:p>
          <a:p>
            <a:endParaRPr lang="en-IN" sz="2000" i="0" dirty="0">
              <a:solidFill>
                <a:schemeClr val="tx1"/>
              </a:solidFill>
              <a:effectLst/>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i="0"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23861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BF9C3B-CF2E-A3F7-5BE2-C93CDDAC467F}"/>
              </a:ext>
            </a:extLst>
          </p:cNvPr>
          <p:cNvSpPr>
            <a:spLocks noGrp="1"/>
          </p:cNvSpPr>
          <p:nvPr>
            <p:ph type="sldNum" idx="10"/>
          </p:nvPr>
        </p:nvSpPr>
        <p:spPr/>
        <p:txBody>
          <a:bodyPr/>
          <a:lstStyle/>
          <a:p>
            <a:pPr>
              <a:defRPr/>
            </a:pPr>
            <a:fld id="{EEC4746D-2915-46BF-985B-D22A733B7AB4}" type="slidenum">
              <a:rPr lang="en-GB" altLang="en-US" smtClean="0"/>
              <a:pPr>
                <a:defRPr/>
              </a:pPr>
              <a:t>16</a:t>
            </a:fld>
            <a:endParaRPr lang="en-US" altLang="en-US"/>
          </a:p>
        </p:txBody>
      </p:sp>
      <p:sp>
        <p:nvSpPr>
          <p:cNvPr id="3" name="TextBox 2">
            <a:extLst>
              <a:ext uri="{FF2B5EF4-FFF2-40B4-BE49-F238E27FC236}">
                <a16:creationId xmlns:a16="http://schemas.microsoft.com/office/drawing/2014/main" id="{8DD6FA3D-6F0F-2808-F301-0B77EAD39F7F}"/>
              </a:ext>
            </a:extLst>
          </p:cNvPr>
          <p:cNvSpPr txBox="1"/>
          <p:nvPr/>
        </p:nvSpPr>
        <p:spPr>
          <a:xfrm>
            <a:off x="251520" y="980728"/>
            <a:ext cx="8064896" cy="1538883"/>
          </a:xfrm>
          <a:prstGeom prst="rect">
            <a:avLst/>
          </a:prstGeom>
          <a:noFill/>
        </p:spPr>
        <p:txBody>
          <a:bodyPr wrap="square" rtlCol="0">
            <a:spAutoFit/>
          </a:bodyPr>
          <a:lstStyle/>
          <a:p>
            <a:r>
              <a:rPr lang="en-IN" sz="2000" b="1" dirty="0">
                <a:solidFill>
                  <a:schemeClr val="tx1"/>
                </a:solidFill>
                <a:effectLst/>
                <a:latin typeface="Times New Roman" panose="02020603050405020304" pitchFamily="18" charset="0"/>
                <a:cs typeface="Times New Roman" panose="02020603050405020304" pitchFamily="18" charset="0"/>
              </a:rPr>
              <a:t>Classification report:</a:t>
            </a: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effectLst/>
              <a:latin typeface="Times New Roman" panose="02020603050405020304" pitchFamily="18" charset="0"/>
              <a:cs typeface="Times New Roman" panose="02020603050405020304" pitchFamily="18" charset="0"/>
            </a:endParaRPr>
          </a:p>
          <a:p>
            <a:endParaRPr lang="en-IN" sz="2000" b="1"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35C2464C-D33F-388F-4641-AE0B3E63CFBA}"/>
              </a:ext>
            </a:extLst>
          </p:cNvPr>
          <p:cNvSpPr txBox="1"/>
          <p:nvPr/>
        </p:nvSpPr>
        <p:spPr>
          <a:xfrm>
            <a:off x="139665" y="3501008"/>
            <a:ext cx="6480720" cy="1846659"/>
          </a:xfrm>
          <a:prstGeom prst="rect">
            <a:avLst/>
          </a:prstGeom>
          <a:noFill/>
        </p:spPr>
        <p:txBody>
          <a:bodyPr wrap="square" rtlCol="0">
            <a:spAutoFit/>
          </a:bodyPr>
          <a:lstStyle/>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Class 0 has a precision of 0.82, recall of 0.68, and F1-score of 0.74. This means that the model did a good job of identifying a high proportion of class 0 instances that it predicted, but it missed a significant number of actual class 0 cases.</a:t>
            </a:r>
          </a:p>
          <a:p>
            <a:endParaRPr lang="en-IN" dirty="0"/>
          </a:p>
        </p:txBody>
      </p:sp>
      <p:pic>
        <p:nvPicPr>
          <p:cNvPr id="7" name="Picture 6">
            <a:extLst>
              <a:ext uri="{FF2B5EF4-FFF2-40B4-BE49-F238E27FC236}">
                <a16:creationId xmlns:a16="http://schemas.microsoft.com/office/drawing/2014/main" id="{62CB4574-9E3A-468D-0BB0-0A082C580B65}"/>
              </a:ext>
            </a:extLst>
          </p:cNvPr>
          <p:cNvPicPr>
            <a:picLocks noChangeAspect="1"/>
          </p:cNvPicPr>
          <p:nvPr/>
        </p:nvPicPr>
        <p:blipFill>
          <a:blip r:embed="rId2"/>
          <a:stretch>
            <a:fillRect/>
          </a:stretch>
        </p:blipFill>
        <p:spPr>
          <a:xfrm>
            <a:off x="221917" y="1743215"/>
            <a:ext cx="4877481" cy="1552792"/>
          </a:xfrm>
          <a:prstGeom prst="rect">
            <a:avLst/>
          </a:prstGeom>
        </p:spPr>
      </p:pic>
    </p:spTree>
    <p:extLst>
      <p:ext uri="{BB962C8B-B14F-4D97-AF65-F5344CB8AC3E}">
        <p14:creationId xmlns:p14="http://schemas.microsoft.com/office/powerpoint/2010/main" val="478561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7045FF-AA13-F14A-3B60-E54EA7C095E7}"/>
              </a:ext>
            </a:extLst>
          </p:cNvPr>
          <p:cNvSpPr>
            <a:spLocks noGrp="1"/>
          </p:cNvSpPr>
          <p:nvPr>
            <p:ph type="sldNum" idx="10"/>
          </p:nvPr>
        </p:nvSpPr>
        <p:spPr/>
        <p:txBody>
          <a:bodyPr/>
          <a:lstStyle/>
          <a:p>
            <a:pPr>
              <a:defRPr/>
            </a:pPr>
            <a:fld id="{EEC4746D-2915-46BF-985B-D22A733B7AB4}" type="slidenum">
              <a:rPr lang="en-GB" altLang="en-US" smtClean="0"/>
              <a:pPr>
                <a:defRPr/>
              </a:pPr>
              <a:t>17</a:t>
            </a:fld>
            <a:endParaRPr lang="en-US" altLang="en-US"/>
          </a:p>
        </p:txBody>
      </p:sp>
      <p:sp>
        <p:nvSpPr>
          <p:cNvPr id="3" name="TextBox 2">
            <a:extLst>
              <a:ext uri="{FF2B5EF4-FFF2-40B4-BE49-F238E27FC236}">
                <a16:creationId xmlns:a16="http://schemas.microsoft.com/office/drawing/2014/main" id="{0C14B9E1-B63E-4124-342D-C3CDE178E8B1}"/>
              </a:ext>
            </a:extLst>
          </p:cNvPr>
          <p:cNvSpPr txBox="1"/>
          <p:nvPr/>
        </p:nvSpPr>
        <p:spPr>
          <a:xfrm>
            <a:off x="179512" y="908720"/>
            <a:ext cx="6480720" cy="5447645"/>
          </a:xfrm>
          <a:prstGeom prst="rect">
            <a:avLst/>
          </a:prstGeom>
          <a:noFill/>
        </p:spPr>
        <p:txBody>
          <a:bodyPr wrap="square" rtlCol="0">
            <a:spAutoFit/>
          </a:bodyPr>
          <a:lstStyle/>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Class 1 has a lower precision of 0.73, recall of 0.85, and F1-score of 0.78. This means that the model did a good job of recalling most of the class 1 cases but it also predicted a high number of false positives.</a:t>
            </a:r>
          </a:p>
          <a:p>
            <a:pPr algn="l"/>
            <a:r>
              <a:rPr lang="en-US" sz="2000" b="0" i="0" dirty="0">
                <a:solidFill>
                  <a:schemeClr val="tx1"/>
                </a:solidFill>
                <a:effectLst/>
                <a:latin typeface="Times New Roman" panose="02020603050405020304" pitchFamily="18" charset="0"/>
                <a:cs typeface="Times New Roman" panose="02020603050405020304" pitchFamily="18" charset="0"/>
              </a:rPr>
              <a:t>The accuracy is 0.77, which means that the model was correct 77% of the time.</a:t>
            </a:r>
          </a:p>
          <a:p>
            <a:pPr algn="l"/>
            <a:endParaRPr lang="en-US" sz="2000" dirty="0">
              <a:solidFill>
                <a:schemeClr val="tx1"/>
              </a:solidFill>
              <a:latin typeface="Times New Roman" panose="02020603050405020304" pitchFamily="18" charset="0"/>
              <a:cs typeface="Times New Roman" panose="02020603050405020304" pitchFamily="18" charset="0"/>
            </a:endParaRPr>
          </a:p>
          <a:p>
            <a:pPr algn="l"/>
            <a:r>
              <a:rPr lang="en-US" sz="2000" b="1" i="0" dirty="0">
                <a:solidFill>
                  <a:schemeClr val="tx1"/>
                </a:solidFill>
                <a:effectLst/>
                <a:latin typeface="Times New Roman" panose="02020603050405020304" pitchFamily="18" charset="0"/>
                <a:cs typeface="Times New Roman" panose="02020603050405020304" pitchFamily="18" charset="0"/>
              </a:rPr>
              <a:t>Conclusion:</a:t>
            </a:r>
          </a:p>
          <a:p>
            <a:pPr marL="342900"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While both models have the same accuracy, the First model performs better in terms of F1-scores for both classes. The first model has a better balance between precision and recall for Class 0 and a higher precision for Class 1. </a:t>
            </a:r>
          </a:p>
          <a:p>
            <a:pPr marL="342900" indent="-342900" algn="l">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Therefore, the First confusion matrix suggests better overall performance.</a:t>
            </a:r>
          </a:p>
          <a:p>
            <a:pPr algn="l"/>
            <a:endParaRPr lang="en-IN" b="1" i="0" dirty="0">
              <a:solidFill>
                <a:srgbClr val="ECECEC"/>
              </a:solidFill>
              <a:effectLst/>
              <a:latin typeface="Söhne"/>
            </a:endParaRPr>
          </a:p>
          <a:p>
            <a:endParaRPr lang="en-IN" dirty="0"/>
          </a:p>
        </p:txBody>
      </p:sp>
    </p:spTree>
    <p:extLst>
      <p:ext uri="{BB962C8B-B14F-4D97-AF65-F5344CB8AC3E}">
        <p14:creationId xmlns:p14="http://schemas.microsoft.com/office/powerpoint/2010/main" val="79453494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80861</TotalTime>
  <Words>1119</Words>
  <Application>Microsoft Office PowerPoint</Application>
  <PresentationFormat>On-screen Show (4:3)</PresentationFormat>
  <Paragraphs>129</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Times New Roman</vt:lpstr>
      <vt:lpstr>Roboto</vt:lpstr>
      <vt:lpstr>Arial</vt:lpstr>
      <vt:lpstr>Georgia</vt:lpstr>
      <vt:lpstr>Archivo Narrow</vt:lpstr>
      <vt:lpstr>Calibri</vt:lpstr>
      <vt:lpstr>Söhne</vt:lpstr>
      <vt:lpstr>DejaVu Sans</vt:lpstr>
      <vt:lpstr>Simple Light</vt:lpstr>
      <vt:lpstr>A MACHINE LEARNING APPROACH FOR EARLY DETECTION OF DIABETES</vt:lpstr>
      <vt:lpstr> Introduction</vt:lpstr>
      <vt:lpstr> Implementation</vt:lpstr>
      <vt:lpstr> Implementation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Efficient Character Recognition System for Handwritten Modi Script</dc:title>
  <dc:creator>user</dc:creator>
  <cp:lastModifiedBy>Ismail Basheer</cp:lastModifiedBy>
  <cp:revision>240</cp:revision>
  <dcterms:modified xsi:type="dcterms:W3CDTF">2024-03-10T18:00:22Z</dcterms:modified>
</cp:coreProperties>
</file>